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Montserrat Bold" charset="1" panose="00000800000000000000"/>
      <p:regular r:id="rId50"/>
    </p:embeddedFont>
    <p:embeddedFont>
      <p:font typeface="Montserrat Medium" charset="1" panose="00000600000000000000"/>
      <p:regular r:id="rId51"/>
    </p:embeddedFont>
    <p:embeddedFont>
      <p:font typeface="Montserrat" charset="1" panose="0000050000000000000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notesMasters/notesMaster1.xml" Type="http://schemas.openxmlformats.org/officeDocument/2006/relationships/notesMaster"/><Relationship Id="rId48" Target="theme/theme2.xml" Type="http://schemas.openxmlformats.org/officeDocument/2006/relationships/theme"/><Relationship Id="rId49" Target="notesSlides/notesSlide1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Create a professional 40-slide presentation for my Summer Training Internship Project.</a:t>
            </a:r>
          </a:p>
          <a:p>
            <a:r>
              <a:rPr lang="en-US"/>
              <a:t/>
            </a:r>
          </a:p>
          <a:p>
            <a:r>
              <a:rPr lang="en-US"/>
              <a:t>Presentation Title:</a:t>
            </a:r>
          </a:p>
          <a:p>
            <a:r>
              <a:rPr lang="en-US"/>
              <a:t/>
            </a:r>
          </a:p>
          <a:p>
            <a:r>
              <a:rPr lang="en-US"/>
              <a:t>BookVault – Your Gateway to Knowledge</a:t>
            </a:r>
          </a:p>
          <a:p>
            <a:r>
              <a:rPr lang="en-US"/>
              <a:t/>
            </a:r>
          </a:p>
          <a:p>
            <a:r>
              <a:rPr lang="en-US"/>
              <a:t>Context:</a:t>
            </a:r>
          </a:p>
          <a:p>
            <a:r>
              <a:rPr lang="en-US"/>
              <a:t/>
            </a:r>
          </a:p>
          <a:p>
            <a:r>
              <a:rPr lang="en-US"/>
              <a:t>Internship project completed during Summer Training in College at Techvision Technologies (July–August 2025).</a:t>
            </a:r>
          </a:p>
          <a:p>
            <a:r>
              <a:rPr lang="en-US"/>
              <a:t/>
            </a:r>
          </a:p>
          <a:p>
            <a:r>
              <a:rPr lang="en-US"/>
              <a:t>Duration: 45 days.</a:t>
            </a:r>
          </a:p>
          <a:p>
            <a:r>
              <a:rPr lang="en-US"/>
              <a:t/>
            </a:r>
          </a:p>
          <a:p>
            <a:r>
              <a:rPr lang="en-US"/>
              <a:t>Training: Full Stack Web Development (MERN Stack).</a:t>
            </a:r>
          </a:p>
          <a:p>
            <a:r>
              <a:rPr lang="en-US"/>
              <a:t/>
            </a:r>
          </a:p>
          <a:p>
            <a:r>
              <a:rPr lang="en-US"/>
              <a:t>Project: BookVault, a digital bookstore platform.</a:t>
            </a:r>
          </a:p>
          <a:p>
            <a:r>
              <a:rPr lang="en-US"/>
              <a:t/>
            </a:r>
          </a:p>
          <a:p>
            <a:r>
              <a:rPr lang="en-US"/>
              <a:t>Structure the slides as follows:</a:t>
            </a:r>
          </a:p>
          <a:p>
            <a:r>
              <a:rPr lang="en-US"/>
              <a:t>Section 1: Opening</a:t>
            </a:r>
          </a:p>
          <a:p>
            <a:r>
              <a:rPr lang="en-US"/>
              <a:t/>
            </a:r>
          </a:p>
          <a:p>
            <a:r>
              <a:rPr lang="en-US"/>
              <a:t>Title Slide (Project name, training info, my details)</a:t>
            </a:r>
          </a:p>
          <a:p>
            <a:r>
              <a:rPr lang="en-US"/>
              <a:t/>
            </a:r>
          </a:p>
          <a:p>
            <a:r>
              <a:rPr lang="en-US"/>
              <a:t>Agenda of the presentation</a:t>
            </a:r>
          </a:p>
          <a:p>
            <a:r>
              <a:rPr lang="en-US"/>
              <a:t/>
            </a:r>
          </a:p>
          <a:p>
            <a:r>
              <a:rPr lang="en-US"/>
              <a:t>About Me (Final Year B.Tech CSE, skills, interests)</a:t>
            </a:r>
          </a:p>
          <a:p>
            <a:r>
              <a:rPr lang="en-US"/>
              <a:t/>
            </a:r>
          </a:p>
          <a:p>
            <a:r>
              <a:rPr lang="en-US"/>
              <a:t>Section 2: Organization</a:t>
            </a:r>
          </a:p>
          <a:p>
            <a:r>
              <a:rPr lang="en-US"/>
              <a:t/>
            </a:r>
          </a:p>
          <a:p>
            <a:r>
              <a:rPr lang="en-US"/>
              <a:t>Company Profile – Techvision Technologies (founded 2008, Bareilly)</a:t>
            </a:r>
          </a:p>
          <a:p>
            <a:r>
              <a:rPr lang="en-US"/>
              <a:t/>
            </a:r>
          </a:p>
          <a:p>
            <a:r>
              <a:rPr lang="en-US"/>
              <a:t>Vision &amp; Mission</a:t>
            </a:r>
          </a:p>
          <a:p>
            <a:r>
              <a:rPr lang="en-US"/>
              <a:t/>
            </a:r>
          </a:p>
          <a:p>
            <a:r>
              <a:rPr lang="en-US"/>
              <a:t>Training Programs offered</a:t>
            </a:r>
          </a:p>
          <a:p>
            <a:r>
              <a:rPr lang="en-US"/>
              <a:t/>
            </a:r>
          </a:p>
          <a:p>
            <a:r>
              <a:rPr lang="en-US"/>
              <a:t>Training Methodology</a:t>
            </a:r>
          </a:p>
          <a:p>
            <a:r>
              <a:rPr lang="en-US"/>
              <a:t/>
            </a:r>
          </a:p>
          <a:p>
            <a:r>
              <a:rPr lang="en-US"/>
              <a:t>Section 3: Industry Context</a:t>
            </a:r>
          </a:p>
          <a:p>
            <a:r>
              <a:rPr lang="en-US"/>
              <a:t/>
            </a:r>
          </a:p>
          <a:p>
            <a:r>
              <a:rPr lang="en-US"/>
              <a:t>Industry at a Glance (IT training + software dev)</a:t>
            </a:r>
          </a:p>
          <a:p>
            <a:r>
              <a:rPr lang="en-US"/>
              <a:t/>
            </a:r>
          </a:p>
          <a:p>
            <a:r>
              <a:rPr lang="en-US"/>
              <a:t>Training &amp; Development Department</a:t>
            </a:r>
          </a:p>
          <a:p>
            <a:r>
              <a:rPr lang="en-US"/>
              <a:t/>
            </a:r>
          </a:p>
          <a:p>
            <a:r>
              <a:rPr lang="en-US"/>
              <a:t>Campus Training Programs</a:t>
            </a:r>
          </a:p>
          <a:p>
            <a:r>
              <a:rPr lang="en-US"/>
              <a:t/>
            </a:r>
          </a:p>
          <a:p>
            <a:r>
              <a:rPr lang="en-US"/>
              <a:t>Summer Training Program (45-day, MERN, project-based)</a:t>
            </a:r>
          </a:p>
          <a:p>
            <a:r>
              <a:rPr lang="en-US"/>
              <a:t/>
            </a:r>
          </a:p>
          <a:p>
            <a:r>
              <a:rPr lang="en-US"/>
              <a:t>Section 4: Technologies</a:t>
            </a:r>
          </a:p>
          <a:p>
            <a:r>
              <a:rPr lang="en-US"/>
              <a:t/>
            </a:r>
          </a:p>
          <a:p>
            <a:r>
              <a:rPr lang="en-US"/>
              <a:t>Modern IT Toolkit (LMS, VLE, GitHub, etc.)</a:t>
            </a:r>
          </a:p>
          <a:p>
            <a:r>
              <a:rPr lang="en-US"/>
              <a:t/>
            </a:r>
          </a:p>
          <a:p>
            <a:r>
              <a:rPr lang="en-US"/>
              <a:t>MERN Stack Overview</a:t>
            </a:r>
          </a:p>
          <a:p>
            <a:r>
              <a:rPr lang="en-US"/>
              <a:t/>
            </a:r>
          </a:p>
          <a:p>
            <a:r>
              <a:rPr lang="en-US"/>
              <a:t>MongoDB (features &amp; use)</a:t>
            </a:r>
          </a:p>
          <a:p>
            <a:r>
              <a:rPr lang="en-US"/>
              <a:t/>
            </a:r>
          </a:p>
          <a:p>
            <a:r>
              <a:rPr lang="en-US"/>
              <a:t>React.js (features &amp; use)</a:t>
            </a:r>
          </a:p>
          <a:p>
            <a:r>
              <a:rPr lang="en-US"/>
              <a:t/>
            </a:r>
          </a:p>
          <a:p>
            <a:r>
              <a:rPr lang="en-US"/>
              <a:t>Express.js (features &amp; use)</a:t>
            </a:r>
          </a:p>
          <a:p>
            <a:r>
              <a:rPr lang="en-US"/>
              <a:t/>
            </a:r>
          </a:p>
          <a:p>
            <a:r>
              <a:rPr lang="en-US"/>
              <a:t>Node.js (features &amp; use)</a:t>
            </a:r>
          </a:p>
          <a:p>
            <a:r>
              <a:rPr lang="en-US"/>
              <a:t/>
            </a:r>
          </a:p>
          <a:p>
            <a:r>
              <a:rPr lang="en-US"/>
              <a:t>Section 5: The Project (BookVault)</a:t>
            </a:r>
          </a:p>
          <a:p>
            <a:r>
              <a:rPr lang="en-US"/>
              <a:t/>
            </a:r>
          </a:p>
          <a:p>
            <a:r>
              <a:rPr lang="en-US"/>
              <a:t>Project Overview</a:t>
            </a:r>
          </a:p>
          <a:p>
            <a:r>
              <a:rPr lang="en-US"/>
              <a:t/>
            </a:r>
          </a:p>
          <a:p>
            <a:r>
              <a:rPr lang="en-US"/>
              <a:t>Problem Statement</a:t>
            </a:r>
          </a:p>
          <a:p>
            <a:r>
              <a:rPr lang="en-US"/>
              <a:t/>
            </a:r>
          </a:p>
          <a:p>
            <a:r>
              <a:rPr lang="en-US"/>
              <a:t>Objectives of BookVault</a:t>
            </a:r>
          </a:p>
          <a:p>
            <a:r>
              <a:rPr lang="en-US"/>
              <a:t/>
            </a:r>
          </a:p>
          <a:p>
            <a:r>
              <a:rPr lang="en-US"/>
              <a:t>System Architecture (MERN client-server model)</a:t>
            </a:r>
          </a:p>
          <a:p>
            <a:r>
              <a:rPr lang="en-US"/>
              <a:t/>
            </a:r>
          </a:p>
          <a:p>
            <a:r>
              <a:rPr lang="en-US"/>
              <a:t>ER Diagram</a:t>
            </a:r>
          </a:p>
          <a:p>
            <a:r>
              <a:rPr lang="en-US"/>
              <a:t/>
            </a:r>
          </a:p>
          <a:p>
            <a:r>
              <a:rPr lang="en-US"/>
              <a:t>Use Case Diagram</a:t>
            </a:r>
          </a:p>
          <a:p>
            <a:r>
              <a:rPr lang="en-US"/>
              <a:t/>
            </a:r>
          </a:p>
          <a:p>
            <a:r>
              <a:rPr lang="en-US"/>
              <a:t>Key Features</a:t>
            </a:r>
          </a:p>
          <a:p>
            <a:r>
              <a:rPr lang="en-US"/>
              <a:t/>
            </a:r>
          </a:p>
          <a:p>
            <a:r>
              <a:rPr lang="en-US"/>
              <a:t>Section 6: Project Screens</a:t>
            </a:r>
          </a:p>
          <a:p>
            <a:r>
              <a:rPr lang="en-US"/>
              <a:t/>
            </a:r>
          </a:p>
          <a:p>
            <a:r>
              <a:rPr lang="en-US"/>
              <a:t>Home &amp; Explore Books page</a:t>
            </a:r>
          </a:p>
          <a:p>
            <a:r>
              <a:rPr lang="en-US"/>
              <a:t/>
            </a:r>
          </a:p>
          <a:p>
            <a:r>
              <a:rPr lang="en-US"/>
              <a:t>Sign Up &amp; Login pages</a:t>
            </a:r>
          </a:p>
          <a:p>
            <a:r>
              <a:rPr lang="en-US"/>
              <a:t/>
            </a:r>
          </a:p>
          <a:p>
            <a:r>
              <a:rPr lang="en-US"/>
              <a:t>Categories &amp; Course page</a:t>
            </a:r>
          </a:p>
          <a:p>
            <a:r>
              <a:rPr lang="en-US"/>
              <a:t/>
            </a:r>
          </a:p>
          <a:p>
            <a:r>
              <a:rPr lang="en-US"/>
              <a:t>Free vs Paid Books</a:t>
            </a:r>
          </a:p>
          <a:p>
            <a:r>
              <a:rPr lang="en-US"/>
              <a:t/>
            </a:r>
          </a:p>
          <a:p>
            <a:r>
              <a:rPr lang="en-US"/>
              <a:t>Contact, About Us, Team pages</a:t>
            </a:r>
          </a:p>
          <a:p>
            <a:r>
              <a:rPr lang="en-US"/>
              <a:t/>
            </a:r>
          </a:p>
          <a:p>
            <a:r>
              <a:rPr lang="en-US"/>
              <a:t>Backend &amp; Frontend Deployment (Render + Netlify + GitHub)</a:t>
            </a:r>
          </a:p>
          <a:p>
            <a:r>
              <a:rPr lang="en-US"/>
              <a:t/>
            </a:r>
          </a:p>
          <a:p>
            <a:r>
              <a:rPr lang="en-US"/>
              <a:t>Section 7: Outcomes</a:t>
            </a:r>
          </a:p>
          <a:p>
            <a:r>
              <a:rPr lang="en-US"/>
              <a:t/>
            </a:r>
          </a:p>
          <a:p>
            <a:r>
              <a:rPr lang="en-US"/>
              <a:t>Skills Gained (MERN, JWT, Tailwind, GitHub, Deployment)</a:t>
            </a:r>
          </a:p>
          <a:p>
            <a:r>
              <a:rPr lang="en-US"/>
              <a:t/>
            </a:r>
          </a:p>
          <a:p>
            <a:r>
              <a:rPr lang="en-US"/>
              <a:t>Practical Applications (CRUD, APIs, responsive UI)</a:t>
            </a:r>
          </a:p>
          <a:p>
            <a:r>
              <a:rPr lang="en-US"/>
              <a:t/>
            </a:r>
          </a:p>
          <a:p>
            <a:r>
              <a:rPr lang="en-US"/>
              <a:t>Teamwork &amp; Collaboration (Agile, GitHub, reviews)</a:t>
            </a:r>
          </a:p>
          <a:p>
            <a:r>
              <a:rPr lang="en-US"/>
              <a:t/>
            </a:r>
          </a:p>
          <a:p>
            <a:r>
              <a:rPr lang="en-US"/>
              <a:t>Industry Standards Followed (validation, error handling, env variables)</a:t>
            </a:r>
          </a:p>
          <a:p>
            <a:r>
              <a:rPr lang="en-US"/>
              <a:t/>
            </a:r>
          </a:p>
          <a:p>
            <a:r>
              <a:rPr lang="en-US"/>
              <a:t>Section 8: Closing</a:t>
            </a:r>
          </a:p>
          <a:p>
            <a:r>
              <a:rPr lang="en-US"/>
              <a:t/>
            </a:r>
          </a:p>
          <a:p>
            <a:r>
              <a:rPr lang="en-US"/>
              <a:t>Training Outcome Summary</a:t>
            </a:r>
          </a:p>
          <a:p>
            <a:r>
              <a:rPr lang="en-US"/>
              <a:t/>
            </a:r>
          </a:p>
          <a:p>
            <a:r>
              <a:rPr lang="en-US"/>
              <a:t>Future Scope (AI book recommendations, mobile app, cloud)</a:t>
            </a:r>
          </a:p>
          <a:p>
            <a:r>
              <a:rPr lang="en-US"/>
              <a:t/>
            </a:r>
          </a:p>
          <a:p>
            <a:r>
              <a:rPr lang="en-US"/>
              <a:t>Personal Reflections</a:t>
            </a:r>
          </a:p>
          <a:p>
            <a:r>
              <a:rPr lang="en-US"/>
              <a:t/>
            </a:r>
          </a:p>
          <a:p>
            <a:r>
              <a:rPr lang="en-US"/>
              <a:t>Acknowledgements</a:t>
            </a:r>
          </a:p>
          <a:p>
            <a:r>
              <a:rPr lang="en-US"/>
              <a:t/>
            </a:r>
          </a:p>
          <a:p>
            <a:r>
              <a:rPr lang="en-US"/>
              <a:t>Q&amp;A Slide</a:t>
            </a:r>
          </a:p>
          <a:p>
            <a:r>
              <a:rPr lang="en-US"/>
              <a:t/>
            </a:r>
          </a:p>
          <a:p>
            <a:r>
              <a:rPr lang="en-US"/>
              <a:t>Thank You Slide (contact details, LinkedIn/GitHub)</a:t>
            </a:r>
          </a:p>
          <a:p>
            <a:r>
              <a:rPr lang="en-US"/>
              <a:t/>
            </a:r>
          </a:p>
          <a:p>
            <a:r>
              <a:rPr lang="en-US"/>
              <a:t>Tone &amp; Style Guidelines:</a:t>
            </a:r>
          </a:p>
          <a:p>
            <a:r>
              <a:rPr lang="en-US"/>
              <a:t/>
            </a:r>
          </a:p>
          <a:p>
            <a:r>
              <a:rPr lang="en-US"/>
              <a:t>Professional, simple, and panel-friendly</a:t>
            </a:r>
          </a:p>
          <a:p>
            <a:r>
              <a:rPr lang="en-US"/>
              <a:t/>
            </a:r>
          </a:p>
          <a:p>
            <a:r>
              <a:rPr lang="en-US"/>
              <a:t>Use short bullet points (not long paragraphs)</a:t>
            </a:r>
          </a:p>
          <a:p>
            <a:r>
              <a:rPr lang="en-US"/>
              <a:t/>
            </a:r>
          </a:p>
          <a:p>
            <a:r>
              <a:rPr lang="en-US"/>
              <a:t>Clean modern design with visuals &amp; icons</a:t>
            </a:r>
          </a:p>
          <a:p>
            <a:r>
              <a:rPr lang="en-US"/>
              <a:t/>
            </a:r>
          </a:p>
          <a:p>
            <a:r>
              <a:rPr lang="en-US"/>
              <a:t>Include placeholders for ER diagram, use case diagram, and project screenshots</a:t>
            </a:r>
          </a:p>
          <a:p>
            <a:r>
              <a:rPr lang="en-US"/>
              <a:t/>
            </a:r>
          </a:p>
          <a:p>
            <a:r>
              <a:rPr lang="en-US"/>
              <a:t>Use a corporate theme with blue/white or light gradient background</a:t>
            </a:r>
          </a:p>
          <a:p>
            <a:r>
              <a:rPr lang="en-US"/>
              <a:t/>
            </a:r>
          </a:p>
          <a:p>
            <a:r>
              <a:rPr lang="en-US"/>
              <a:t>Keep content concise but elaborate enough for technical discussion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206581" y="6071427"/>
            <a:ext cx="10821542" cy="8814638"/>
          </a:xfrm>
          <a:custGeom>
            <a:avLst/>
            <a:gdLst/>
            <a:ahLst/>
            <a:cxnLst/>
            <a:rect r="r" b="b" t="t" l="l"/>
            <a:pathLst>
              <a:path h="8814638" w="10821542">
                <a:moveTo>
                  <a:pt x="10821542" y="0"/>
                </a:moveTo>
                <a:lnTo>
                  <a:pt x="0" y="0"/>
                </a:lnTo>
                <a:lnTo>
                  <a:pt x="0" y="8814638"/>
                </a:lnTo>
                <a:lnTo>
                  <a:pt x="10821542" y="8814638"/>
                </a:lnTo>
                <a:lnTo>
                  <a:pt x="1082154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73039" y="6071427"/>
            <a:ext cx="10821542" cy="8814638"/>
          </a:xfrm>
          <a:custGeom>
            <a:avLst/>
            <a:gdLst/>
            <a:ahLst/>
            <a:cxnLst/>
            <a:rect r="r" b="b" t="t" l="l"/>
            <a:pathLst>
              <a:path h="8814638" w="10821542">
                <a:moveTo>
                  <a:pt x="0" y="0"/>
                </a:moveTo>
                <a:lnTo>
                  <a:pt x="10821542" y="0"/>
                </a:lnTo>
                <a:lnTo>
                  <a:pt x="10821542" y="8814638"/>
                </a:lnTo>
                <a:lnTo>
                  <a:pt x="0" y="8814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38380" y="5143500"/>
            <a:ext cx="11211239" cy="6803595"/>
          </a:xfrm>
          <a:custGeom>
            <a:avLst/>
            <a:gdLst/>
            <a:ahLst/>
            <a:cxnLst/>
            <a:rect r="r" b="b" t="t" l="l"/>
            <a:pathLst>
              <a:path h="6803595" w="11211239">
                <a:moveTo>
                  <a:pt x="0" y="0"/>
                </a:moveTo>
                <a:lnTo>
                  <a:pt x="11211240" y="0"/>
                </a:lnTo>
                <a:lnTo>
                  <a:pt x="11211240" y="6803595"/>
                </a:lnTo>
                <a:lnTo>
                  <a:pt x="0" y="68035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84613"/>
            <a:ext cx="16230600" cy="16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89"/>
              </a:lnSpc>
            </a:pPr>
            <a:r>
              <a:rPr lang="en-US" b="true" sz="8999" spc="179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BOOKVAULT</a:t>
            </a:r>
          </a:p>
          <a:p>
            <a:pPr algn="ctr">
              <a:lnSpc>
                <a:spcPts val="3219"/>
              </a:lnSpc>
            </a:pPr>
            <a:r>
              <a:rPr lang="en-US" b="true" sz="2900" spc="58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-YOUR GATEWAY TO KNOWLEDGE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76962" y="1420403"/>
            <a:ext cx="11772658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32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Summer Training Project at Techvision Technologies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69335"/>
            <a:ext cx="162306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30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Presentation by Parkhi (2200140100074)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30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B.Tech CSE, SRMS-CET Bareilly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8402361">
            <a:off x="-1707719" y="4930339"/>
            <a:ext cx="3882141" cy="3910581"/>
          </a:xfrm>
          <a:custGeom>
            <a:avLst/>
            <a:gdLst/>
            <a:ahLst/>
            <a:cxnLst/>
            <a:rect r="r" b="b" t="t" l="l"/>
            <a:pathLst>
              <a:path h="3910581" w="3882141">
                <a:moveTo>
                  <a:pt x="3882141" y="0"/>
                </a:moveTo>
                <a:lnTo>
                  <a:pt x="0" y="0"/>
                </a:lnTo>
                <a:lnTo>
                  <a:pt x="0" y="3910582"/>
                </a:lnTo>
                <a:lnTo>
                  <a:pt x="3882141" y="3910582"/>
                </a:lnTo>
                <a:lnTo>
                  <a:pt x="388214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409860">
            <a:off x="16114135" y="4930339"/>
            <a:ext cx="3882141" cy="3910581"/>
          </a:xfrm>
          <a:custGeom>
            <a:avLst/>
            <a:gdLst/>
            <a:ahLst/>
            <a:cxnLst/>
            <a:rect r="r" b="b" t="t" l="l"/>
            <a:pathLst>
              <a:path h="3910581" w="3882141">
                <a:moveTo>
                  <a:pt x="0" y="0"/>
                </a:moveTo>
                <a:lnTo>
                  <a:pt x="3882140" y="0"/>
                </a:lnTo>
                <a:lnTo>
                  <a:pt x="3882140" y="3910582"/>
                </a:lnTo>
                <a:lnTo>
                  <a:pt x="0" y="39105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303001"/>
            <a:ext cx="7897564" cy="7124565"/>
          </a:xfrm>
          <a:custGeom>
            <a:avLst/>
            <a:gdLst/>
            <a:ahLst/>
            <a:cxnLst/>
            <a:rect r="r" b="b" t="t" l="l"/>
            <a:pathLst>
              <a:path h="7124565" w="7897564">
                <a:moveTo>
                  <a:pt x="0" y="0"/>
                </a:moveTo>
                <a:lnTo>
                  <a:pt x="7897564" y="0"/>
                </a:lnTo>
                <a:lnTo>
                  <a:pt x="7897564" y="7124565"/>
                </a:lnTo>
                <a:lnTo>
                  <a:pt x="0" y="7124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579080" y="3624776"/>
            <a:ext cx="6131396" cy="0"/>
          </a:xfrm>
          <a:prstGeom prst="line">
            <a:avLst/>
          </a:prstGeom>
          <a:ln cap="rnd" w="38100">
            <a:solidFill>
              <a:srgbClr val="6399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579080" y="4365140"/>
            <a:ext cx="6131396" cy="0"/>
          </a:xfrm>
          <a:prstGeom prst="line">
            <a:avLst/>
          </a:prstGeom>
          <a:ln cap="rnd" w="38100">
            <a:solidFill>
              <a:srgbClr val="6399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579080" y="5105505"/>
            <a:ext cx="6131396" cy="0"/>
          </a:xfrm>
          <a:prstGeom prst="line">
            <a:avLst/>
          </a:prstGeom>
          <a:ln cap="rnd" w="38100">
            <a:solidFill>
              <a:srgbClr val="6399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579080" y="5845870"/>
            <a:ext cx="6131396" cy="0"/>
          </a:xfrm>
          <a:prstGeom prst="line">
            <a:avLst/>
          </a:prstGeom>
          <a:ln cap="rnd" w="38100">
            <a:solidFill>
              <a:srgbClr val="6399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579080" y="6586235"/>
            <a:ext cx="6131396" cy="0"/>
          </a:xfrm>
          <a:prstGeom prst="line">
            <a:avLst/>
          </a:prstGeom>
          <a:ln cap="rnd" w="38100">
            <a:solidFill>
              <a:srgbClr val="6399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79080" y="1274426"/>
            <a:ext cx="7688745" cy="172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1"/>
              </a:lnSpc>
            </a:pPr>
            <a:r>
              <a:rPr lang="en-US" b="true" sz="6100" spc="122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WE WILL TALK 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9080" y="3076450"/>
            <a:ext cx="613139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About the Company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9080" y="3817135"/>
            <a:ext cx="613139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Industry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9080" y="4557179"/>
            <a:ext cx="613139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Tools &amp; Technologies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9080" y="5297544"/>
            <a:ext cx="613139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BookVault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080" y="6037908"/>
            <a:ext cx="613139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Outcomes &amp; Skills Learned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579080" y="7326599"/>
            <a:ext cx="6131396" cy="0"/>
          </a:xfrm>
          <a:prstGeom prst="line">
            <a:avLst/>
          </a:prstGeom>
          <a:ln cap="rnd" w="38100">
            <a:solidFill>
              <a:srgbClr val="6399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579080" y="6778273"/>
            <a:ext cx="613139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Future Scope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1579080" y="8065425"/>
            <a:ext cx="6131396" cy="0"/>
          </a:xfrm>
          <a:prstGeom prst="line">
            <a:avLst/>
          </a:prstGeom>
          <a:ln cap="rnd" w="38100">
            <a:solidFill>
              <a:srgbClr val="6399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579080" y="7517099"/>
            <a:ext cx="613139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 &amp; Q/A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26109" y="2041043"/>
            <a:ext cx="5495969" cy="5420682"/>
          </a:xfrm>
          <a:custGeom>
            <a:avLst/>
            <a:gdLst/>
            <a:ahLst/>
            <a:cxnLst/>
            <a:rect r="r" b="b" t="t" l="l"/>
            <a:pathLst>
              <a:path h="5420682" w="5495969">
                <a:moveTo>
                  <a:pt x="0" y="0"/>
                </a:moveTo>
                <a:lnTo>
                  <a:pt x="5495969" y="0"/>
                </a:lnTo>
                <a:lnTo>
                  <a:pt x="5495969" y="5420682"/>
                </a:lnTo>
                <a:lnTo>
                  <a:pt x="0" y="5420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6438" y="2092587"/>
            <a:ext cx="8423797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1"/>
              </a:lnSpc>
            </a:pPr>
            <a:r>
              <a:rPr lang="en-US" b="true" sz="6100" spc="122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HELLO, EVERYONE!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6438" y="3018360"/>
            <a:ext cx="8423797" cy="316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Final Year B.Tech CSE Student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Completed Summer Training </a:t>
            </a: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Full Stack Development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Skilled in: HTML, CSS, JS, React, MERN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Interests: Web Development &amp;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7465" y="1858858"/>
            <a:ext cx="9815073" cy="7226194"/>
          </a:xfrm>
          <a:custGeom>
            <a:avLst/>
            <a:gdLst/>
            <a:ahLst/>
            <a:cxnLst/>
            <a:rect r="r" b="b" t="t" l="l"/>
            <a:pathLst>
              <a:path h="7226194" w="9815073">
                <a:moveTo>
                  <a:pt x="0" y="0"/>
                </a:moveTo>
                <a:lnTo>
                  <a:pt x="9815073" y="0"/>
                </a:lnTo>
                <a:lnTo>
                  <a:pt x="9815073" y="7226194"/>
                </a:lnTo>
                <a:lnTo>
                  <a:pt x="0" y="7226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659" b="-239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40141" y="2310819"/>
            <a:ext cx="7216565" cy="174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b="true" sz="6209" spc="124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THE ORGANIZATION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95566" y="4329148"/>
            <a:ext cx="6803336" cy="396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0"/>
              </a:lnSpc>
            </a:pPr>
          </a:p>
          <a:p>
            <a:pPr algn="l" marL="747219" indent="-373610" lvl="1">
              <a:lnSpc>
                <a:spcPts val="5260"/>
              </a:lnSpc>
              <a:buFont typeface="Arial"/>
              <a:buChar char="•"/>
            </a:pPr>
            <a:r>
              <a:rPr lang="en-US" b="true" sz="3460" spc="34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3460" spc="34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ompany Profile</a:t>
            </a:r>
          </a:p>
          <a:p>
            <a:pPr algn="l" marL="747219" indent="-373610" lvl="1">
              <a:lnSpc>
                <a:spcPts val="5260"/>
              </a:lnSpc>
              <a:buFont typeface="Arial"/>
              <a:buChar char="•"/>
            </a:pPr>
            <a:r>
              <a:rPr lang="en-US" b="true" sz="3460" spc="34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</a:t>
            </a:r>
            <a:r>
              <a:rPr lang="en-US" b="true" sz="3460" spc="34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ision &amp; Mission</a:t>
            </a:r>
          </a:p>
          <a:p>
            <a:pPr algn="l" marL="747219" indent="-373610" lvl="1">
              <a:lnSpc>
                <a:spcPts val="5260"/>
              </a:lnSpc>
              <a:buFont typeface="Arial"/>
              <a:buChar char="•"/>
            </a:pPr>
            <a:r>
              <a:rPr lang="en-US" b="true" sz="3460" spc="34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3460" spc="34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raining Programs</a:t>
            </a:r>
          </a:p>
          <a:p>
            <a:pPr algn="l" marL="747219" indent="-373610" lvl="1">
              <a:lnSpc>
                <a:spcPts val="5260"/>
              </a:lnSpc>
              <a:buFont typeface="Arial"/>
              <a:buChar char="•"/>
            </a:pPr>
            <a:r>
              <a:rPr lang="en-US" b="true" sz="3460" spc="34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Methodology</a:t>
            </a:r>
          </a:p>
          <a:p>
            <a:pPr algn="l">
              <a:lnSpc>
                <a:spcPts val="526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62341">
            <a:off x="16861294" y="9993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173131" y="80155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2872934">
            <a:off x="2529635" y="86660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70740" y="1361078"/>
            <a:ext cx="6925989" cy="7564843"/>
          </a:xfrm>
          <a:custGeom>
            <a:avLst/>
            <a:gdLst/>
            <a:ahLst/>
            <a:cxnLst/>
            <a:rect r="r" b="b" t="t" l="l"/>
            <a:pathLst>
              <a:path h="7564843" w="6925989">
                <a:moveTo>
                  <a:pt x="0" y="0"/>
                </a:moveTo>
                <a:lnTo>
                  <a:pt x="6925989" y="0"/>
                </a:lnTo>
                <a:lnTo>
                  <a:pt x="6925989" y="7564844"/>
                </a:lnTo>
                <a:lnTo>
                  <a:pt x="0" y="7564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3850" y="1209444"/>
            <a:ext cx="7688745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1"/>
              </a:lnSpc>
            </a:pPr>
            <a:r>
              <a:rPr lang="en-US" b="true" sz="6100" spc="122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0139" y="2222434"/>
            <a:ext cx="7856166" cy="322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2860" spc="28" b="true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Company Profile</a:t>
            </a:r>
          </a:p>
          <a:p>
            <a:pPr algn="l" marL="617682" indent="-308841" lvl="1">
              <a:lnSpc>
                <a:spcPts val="4348"/>
              </a:lnSpc>
              <a:buFont typeface="Arial"/>
              <a:buChar char="•"/>
            </a:pPr>
            <a:r>
              <a:rPr lang="en-US" b="true" sz="2860" spc="2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Founded in 2008, Bareilly</a:t>
            </a:r>
          </a:p>
          <a:p>
            <a:pPr algn="l" marL="617682" indent="-308841" lvl="1">
              <a:lnSpc>
                <a:spcPts val="4348"/>
              </a:lnSpc>
              <a:buFont typeface="Arial"/>
              <a:buChar char="•"/>
            </a:pPr>
            <a:r>
              <a:rPr lang="en-US" b="true" sz="2860" spc="2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Training &amp; Development Company</a:t>
            </a:r>
          </a:p>
          <a:p>
            <a:pPr algn="l" marL="617682" indent="-308841" lvl="1">
              <a:lnSpc>
                <a:spcPts val="4348"/>
              </a:lnSpc>
              <a:buFont typeface="Arial"/>
              <a:buChar char="•"/>
            </a:pPr>
            <a:r>
              <a:rPr lang="en-US" b="true" sz="2860" spc="2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Expertise: Full Stack, AI/ML, Cloud, Data Science</a:t>
            </a:r>
          </a:p>
          <a:p>
            <a:pPr algn="l">
              <a:lnSpc>
                <a:spcPts val="434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0139" y="5295407"/>
            <a:ext cx="7856166" cy="376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2860" spc="28" b="true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Vision &amp; Mission</a:t>
            </a:r>
          </a:p>
          <a:p>
            <a:pPr algn="l" marL="617682" indent="-308841" lvl="1">
              <a:lnSpc>
                <a:spcPts val="4348"/>
              </a:lnSpc>
              <a:buFont typeface="Arial"/>
              <a:buChar char="•"/>
            </a:pPr>
            <a:r>
              <a:rPr lang="en-US" b="true" sz="2860" spc="2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Vision: Become a global leader in IT training</a:t>
            </a:r>
          </a:p>
          <a:p>
            <a:pPr algn="l" marL="617682" indent="-308841" lvl="1">
              <a:lnSpc>
                <a:spcPts val="4348"/>
              </a:lnSpc>
              <a:buFont typeface="Arial"/>
              <a:buChar char="•"/>
            </a:pPr>
            <a:r>
              <a:rPr lang="en-US" b="true" sz="2860" spc="2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Mission: Provide practical, industry-ready skills</a:t>
            </a:r>
          </a:p>
          <a:p>
            <a:pPr algn="l">
              <a:lnSpc>
                <a:spcPts val="4348"/>
              </a:lnSpc>
            </a:pPr>
          </a:p>
          <a:p>
            <a:pPr algn="l">
              <a:lnSpc>
                <a:spcPts val="434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7620" y="1319588"/>
            <a:ext cx="7481680" cy="7647824"/>
          </a:xfrm>
          <a:custGeom>
            <a:avLst/>
            <a:gdLst/>
            <a:ahLst/>
            <a:cxnLst/>
            <a:rect r="r" b="b" t="t" l="l"/>
            <a:pathLst>
              <a:path h="7647824" w="7481680">
                <a:moveTo>
                  <a:pt x="0" y="0"/>
                </a:moveTo>
                <a:lnTo>
                  <a:pt x="7481680" y="0"/>
                </a:lnTo>
                <a:lnTo>
                  <a:pt x="7481680" y="7647824"/>
                </a:lnTo>
                <a:lnTo>
                  <a:pt x="0" y="7647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8224" y="1442433"/>
            <a:ext cx="8579396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1"/>
              </a:lnSpc>
            </a:pPr>
            <a:r>
              <a:rPr lang="en-US" b="true" sz="6100" spc="122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BENEFITS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8224" y="2427873"/>
            <a:ext cx="7863287" cy="316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2799" spc="27" b="true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Programs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Full Stack Development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Database Management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Cloud, AI/ML, Data Science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Industrial &amp; Summer Training</a:t>
            </a:r>
          </a:p>
          <a:p>
            <a:pPr algn="l">
              <a:lnSpc>
                <a:spcPts val="425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8224" y="5259015"/>
            <a:ext cx="7863287" cy="316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2799" spc="27" b="true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Methodology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sz="2799" spc="27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799" spc="27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ands-on projects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sz="2799" spc="27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Live workshops &amp; mentoring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sz="2799" spc="27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Industry-recognized certifications</a:t>
            </a:r>
          </a:p>
          <a:p>
            <a:pPr algn="l" marL="604519" indent="-302260" lvl="1">
              <a:lnSpc>
                <a:spcPts val="4255"/>
              </a:lnSpc>
              <a:buFont typeface="Arial"/>
              <a:buChar char="•"/>
            </a:pPr>
            <a:r>
              <a:rPr lang="en-US" sz="2799" spc="27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Placement &amp; career support</a:t>
            </a:r>
          </a:p>
          <a:p>
            <a:pPr algn="l">
              <a:lnSpc>
                <a:spcPts val="425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5420" y="1762464"/>
            <a:ext cx="13317160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b="true" sz="6100" spc="122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INDUSTRY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9391" y="4222163"/>
            <a:ext cx="4860173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IT + Training Services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Software development &amp; placements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Focus: bridging academics with industry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713914" y="4222163"/>
            <a:ext cx="4860173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Expertise: AWS, DevOps, MERN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Blend of technical + soft skills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Strong placement assistance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Exposure to real development practices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088436" y="4222163"/>
            <a:ext cx="4860173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Practical training inside college campus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Affordable &amp; industry-focused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Project-based learning approach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45-day program in collaboration with college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Hands-on Full Stack MERN training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39391" y="2981462"/>
            <a:ext cx="4860173" cy="1353972"/>
            <a:chOff x="0" y="0"/>
            <a:chExt cx="1280045" cy="3566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045" cy="356602"/>
            </a:xfrm>
            <a:custGeom>
              <a:avLst/>
              <a:gdLst/>
              <a:ahLst/>
              <a:cxnLst/>
              <a:rect r="r" b="b" t="t" l="l"/>
              <a:pathLst>
                <a:path h="35660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340672"/>
                  </a:lnTo>
                  <a:cubicBezTo>
                    <a:pt x="1280045" y="349470"/>
                    <a:pt x="1272914" y="356602"/>
                    <a:pt x="1264116" y="356602"/>
                  </a:cubicBezTo>
                  <a:lnTo>
                    <a:pt x="15929" y="356602"/>
                  </a:lnTo>
                  <a:cubicBezTo>
                    <a:pt x="11705" y="356602"/>
                    <a:pt x="7653" y="354923"/>
                    <a:pt x="4666" y="351936"/>
                  </a:cubicBezTo>
                  <a:cubicBezTo>
                    <a:pt x="1678" y="348949"/>
                    <a:pt x="0" y="344897"/>
                    <a:pt x="0" y="34067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280045" cy="34707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INDUSTRY AT A GLANCE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13914" y="2981462"/>
            <a:ext cx="4860173" cy="1353972"/>
            <a:chOff x="0" y="0"/>
            <a:chExt cx="1280045" cy="3566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045" cy="356602"/>
            </a:xfrm>
            <a:custGeom>
              <a:avLst/>
              <a:gdLst/>
              <a:ahLst/>
              <a:cxnLst/>
              <a:rect r="r" b="b" t="t" l="l"/>
              <a:pathLst>
                <a:path h="35660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340672"/>
                  </a:lnTo>
                  <a:cubicBezTo>
                    <a:pt x="1280045" y="349470"/>
                    <a:pt x="1272914" y="356602"/>
                    <a:pt x="1264116" y="356602"/>
                  </a:cubicBezTo>
                  <a:lnTo>
                    <a:pt x="15929" y="356602"/>
                  </a:lnTo>
                  <a:cubicBezTo>
                    <a:pt x="11705" y="356602"/>
                    <a:pt x="7653" y="354923"/>
                    <a:pt x="4666" y="351936"/>
                  </a:cubicBezTo>
                  <a:cubicBezTo>
                    <a:pt x="1678" y="348949"/>
                    <a:pt x="0" y="344897"/>
                    <a:pt x="0" y="34067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280045" cy="34707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TRAINING &amp; DEVELOPMENT DEPT.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88436" y="2981462"/>
            <a:ext cx="4860173" cy="1353972"/>
            <a:chOff x="0" y="0"/>
            <a:chExt cx="1280045" cy="3566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045" cy="356602"/>
            </a:xfrm>
            <a:custGeom>
              <a:avLst/>
              <a:gdLst/>
              <a:ahLst/>
              <a:cxnLst/>
              <a:rect r="r" b="b" t="t" l="l"/>
              <a:pathLst>
                <a:path h="35660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340672"/>
                  </a:lnTo>
                  <a:cubicBezTo>
                    <a:pt x="1280045" y="349470"/>
                    <a:pt x="1272914" y="356602"/>
                    <a:pt x="1264116" y="356602"/>
                  </a:cubicBezTo>
                  <a:lnTo>
                    <a:pt x="15929" y="356602"/>
                  </a:lnTo>
                  <a:cubicBezTo>
                    <a:pt x="11705" y="356602"/>
                    <a:pt x="7653" y="354923"/>
                    <a:pt x="4666" y="351936"/>
                  </a:cubicBezTo>
                  <a:cubicBezTo>
                    <a:pt x="1678" y="348949"/>
                    <a:pt x="0" y="344897"/>
                    <a:pt x="0" y="34067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280045" cy="34707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CAMPUS SUMMTRAINING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5420" y="1762464"/>
            <a:ext cx="13317160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b="true" sz="6100" spc="122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9391" y="2981462"/>
            <a:ext cx="4860173" cy="934872"/>
            <a:chOff x="0" y="0"/>
            <a:chExt cx="1280045" cy="2462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0045" cy="246222"/>
            </a:xfrm>
            <a:custGeom>
              <a:avLst/>
              <a:gdLst/>
              <a:ahLst/>
              <a:cxnLst/>
              <a:rect r="r" b="b" t="t" l="l"/>
              <a:pathLst>
                <a:path h="24622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230292"/>
                  </a:lnTo>
                  <a:cubicBezTo>
                    <a:pt x="1280045" y="234517"/>
                    <a:pt x="1278367" y="238569"/>
                    <a:pt x="1275380" y="241556"/>
                  </a:cubicBezTo>
                  <a:cubicBezTo>
                    <a:pt x="1272392" y="244543"/>
                    <a:pt x="1268341" y="246222"/>
                    <a:pt x="1264116" y="246222"/>
                  </a:cubicBezTo>
                  <a:lnTo>
                    <a:pt x="15929" y="246222"/>
                  </a:lnTo>
                  <a:cubicBezTo>
                    <a:pt x="7132" y="246222"/>
                    <a:pt x="0" y="239090"/>
                    <a:pt x="0" y="23029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280045" cy="23669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MODERN IT TOOLKIT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13914" y="2981462"/>
            <a:ext cx="4860173" cy="934872"/>
            <a:chOff x="0" y="0"/>
            <a:chExt cx="1280045" cy="246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045" cy="246222"/>
            </a:xfrm>
            <a:custGeom>
              <a:avLst/>
              <a:gdLst/>
              <a:ahLst/>
              <a:cxnLst/>
              <a:rect r="r" b="b" t="t" l="l"/>
              <a:pathLst>
                <a:path h="24622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230292"/>
                  </a:lnTo>
                  <a:cubicBezTo>
                    <a:pt x="1280045" y="234517"/>
                    <a:pt x="1278367" y="238569"/>
                    <a:pt x="1275380" y="241556"/>
                  </a:cubicBezTo>
                  <a:cubicBezTo>
                    <a:pt x="1272392" y="244543"/>
                    <a:pt x="1268341" y="246222"/>
                    <a:pt x="1264116" y="246222"/>
                  </a:cubicBezTo>
                  <a:lnTo>
                    <a:pt x="15929" y="246222"/>
                  </a:lnTo>
                  <a:cubicBezTo>
                    <a:pt x="7132" y="246222"/>
                    <a:pt x="0" y="239090"/>
                    <a:pt x="0" y="23029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280045" cy="23669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MERN STACK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88436" y="2981462"/>
            <a:ext cx="4860173" cy="934872"/>
            <a:chOff x="0" y="0"/>
            <a:chExt cx="1280045" cy="246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045" cy="246222"/>
            </a:xfrm>
            <a:custGeom>
              <a:avLst/>
              <a:gdLst/>
              <a:ahLst/>
              <a:cxnLst/>
              <a:rect r="r" b="b" t="t" l="l"/>
              <a:pathLst>
                <a:path h="24622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230292"/>
                  </a:lnTo>
                  <a:cubicBezTo>
                    <a:pt x="1280045" y="234517"/>
                    <a:pt x="1278367" y="238569"/>
                    <a:pt x="1275380" y="241556"/>
                  </a:cubicBezTo>
                  <a:cubicBezTo>
                    <a:pt x="1272392" y="244543"/>
                    <a:pt x="1268341" y="246222"/>
                    <a:pt x="1264116" y="246222"/>
                  </a:cubicBezTo>
                  <a:lnTo>
                    <a:pt x="15929" y="246222"/>
                  </a:lnTo>
                  <a:cubicBezTo>
                    <a:pt x="7132" y="246222"/>
                    <a:pt x="0" y="239090"/>
                    <a:pt x="0" y="23029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280045" cy="23669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MONGODB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39391" y="4222163"/>
            <a:ext cx="4860173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Virtual Learning Environments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Learning Management Systems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Collaboration Tools such as GitHub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13914" y="4222163"/>
            <a:ext cx="4860173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MongoDB – Database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Express.js – Server Framework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React.js – Frontend UI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Node.js – Runtime Environment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88436" y="4222163"/>
            <a:ext cx="486017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NoSQL Database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Flexible schema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Scalable &amp; reliable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418536" y="6755235"/>
            <a:ext cx="3869464" cy="3531765"/>
          </a:xfrm>
          <a:custGeom>
            <a:avLst/>
            <a:gdLst/>
            <a:ahLst/>
            <a:cxnLst/>
            <a:rect r="r" b="b" t="t" l="l"/>
            <a:pathLst>
              <a:path h="3531765" w="3869464">
                <a:moveTo>
                  <a:pt x="0" y="0"/>
                </a:moveTo>
                <a:lnTo>
                  <a:pt x="3869464" y="0"/>
                </a:lnTo>
                <a:lnTo>
                  <a:pt x="3869464" y="3531765"/>
                </a:lnTo>
                <a:lnTo>
                  <a:pt x="0" y="3531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5420" y="1762464"/>
            <a:ext cx="13317160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b="true" sz="6100" spc="122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9391" y="4222163"/>
            <a:ext cx="486017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Component-based UI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Virtual DOM → faster rendering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Hooks &amp; Router for SPA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13914" y="4222163"/>
            <a:ext cx="4860173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Lightweight web framework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Simplifies APIs &amp; routing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Supports middleware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088436" y="4222163"/>
            <a:ext cx="4860173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JavaScript runtime on server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Non-blocking I/O → high performance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scalability</a:t>
            </a:r>
          </a:p>
          <a:p>
            <a:pPr algn="l">
              <a:lnSpc>
                <a:spcPts val="374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39391" y="2981462"/>
            <a:ext cx="4860173" cy="934872"/>
            <a:chOff x="0" y="0"/>
            <a:chExt cx="1280045" cy="246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045" cy="246222"/>
            </a:xfrm>
            <a:custGeom>
              <a:avLst/>
              <a:gdLst/>
              <a:ahLst/>
              <a:cxnLst/>
              <a:rect r="r" b="b" t="t" l="l"/>
              <a:pathLst>
                <a:path h="24622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230292"/>
                  </a:lnTo>
                  <a:cubicBezTo>
                    <a:pt x="1280045" y="234517"/>
                    <a:pt x="1278367" y="238569"/>
                    <a:pt x="1275380" y="241556"/>
                  </a:cubicBezTo>
                  <a:cubicBezTo>
                    <a:pt x="1272392" y="244543"/>
                    <a:pt x="1268341" y="246222"/>
                    <a:pt x="1264116" y="246222"/>
                  </a:cubicBezTo>
                  <a:lnTo>
                    <a:pt x="15929" y="246222"/>
                  </a:lnTo>
                  <a:cubicBezTo>
                    <a:pt x="7132" y="246222"/>
                    <a:pt x="0" y="239090"/>
                    <a:pt x="0" y="23029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280045" cy="23669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REACT.JS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13914" y="2981462"/>
            <a:ext cx="4860173" cy="934872"/>
            <a:chOff x="0" y="0"/>
            <a:chExt cx="1280045" cy="246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045" cy="246222"/>
            </a:xfrm>
            <a:custGeom>
              <a:avLst/>
              <a:gdLst/>
              <a:ahLst/>
              <a:cxnLst/>
              <a:rect r="r" b="b" t="t" l="l"/>
              <a:pathLst>
                <a:path h="24622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230292"/>
                  </a:lnTo>
                  <a:cubicBezTo>
                    <a:pt x="1280045" y="234517"/>
                    <a:pt x="1278367" y="238569"/>
                    <a:pt x="1275380" y="241556"/>
                  </a:cubicBezTo>
                  <a:cubicBezTo>
                    <a:pt x="1272392" y="244543"/>
                    <a:pt x="1268341" y="246222"/>
                    <a:pt x="1264116" y="246222"/>
                  </a:cubicBezTo>
                  <a:lnTo>
                    <a:pt x="15929" y="246222"/>
                  </a:lnTo>
                  <a:cubicBezTo>
                    <a:pt x="7132" y="246222"/>
                    <a:pt x="0" y="239090"/>
                    <a:pt x="0" y="23029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280045" cy="23669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EXPRESS.JS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88436" y="2981462"/>
            <a:ext cx="4860173" cy="934872"/>
            <a:chOff x="0" y="0"/>
            <a:chExt cx="1280045" cy="2462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045" cy="246222"/>
            </a:xfrm>
            <a:custGeom>
              <a:avLst/>
              <a:gdLst/>
              <a:ahLst/>
              <a:cxnLst/>
              <a:rect r="r" b="b" t="t" l="l"/>
              <a:pathLst>
                <a:path h="246222" w="1280045">
                  <a:moveTo>
                    <a:pt x="15929" y="0"/>
                  </a:moveTo>
                  <a:lnTo>
                    <a:pt x="1264116" y="0"/>
                  </a:lnTo>
                  <a:cubicBezTo>
                    <a:pt x="1268341" y="0"/>
                    <a:pt x="1272392" y="1678"/>
                    <a:pt x="1275380" y="4666"/>
                  </a:cubicBezTo>
                  <a:cubicBezTo>
                    <a:pt x="1278367" y="7653"/>
                    <a:pt x="1280045" y="11705"/>
                    <a:pt x="1280045" y="15929"/>
                  </a:cubicBezTo>
                  <a:lnTo>
                    <a:pt x="1280045" y="230292"/>
                  </a:lnTo>
                  <a:cubicBezTo>
                    <a:pt x="1280045" y="234517"/>
                    <a:pt x="1278367" y="238569"/>
                    <a:pt x="1275380" y="241556"/>
                  </a:cubicBezTo>
                  <a:cubicBezTo>
                    <a:pt x="1272392" y="244543"/>
                    <a:pt x="1268341" y="246222"/>
                    <a:pt x="1264116" y="246222"/>
                  </a:cubicBezTo>
                  <a:lnTo>
                    <a:pt x="15929" y="246222"/>
                  </a:lnTo>
                  <a:cubicBezTo>
                    <a:pt x="7132" y="246222"/>
                    <a:pt x="0" y="239090"/>
                    <a:pt x="0" y="230292"/>
                  </a:cubicBezTo>
                  <a:lnTo>
                    <a:pt x="0" y="15929"/>
                  </a:lnTo>
                  <a:cubicBezTo>
                    <a:pt x="0" y="11705"/>
                    <a:pt x="1678" y="7653"/>
                    <a:pt x="4666" y="4666"/>
                  </a:cubicBezTo>
                  <a:cubicBezTo>
                    <a:pt x="7653" y="1678"/>
                    <a:pt x="11705" y="0"/>
                    <a:pt x="15929" y="0"/>
                  </a:cubicBezTo>
                  <a:close/>
                </a:path>
              </a:pathLst>
            </a:custGeom>
            <a:solidFill>
              <a:srgbClr val="FFB699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280045" cy="23669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799" spc="55">
                  <a:solidFill>
                    <a:srgbClr val="45272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NODE.JS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418536" y="6755235"/>
            <a:ext cx="3869464" cy="3531765"/>
          </a:xfrm>
          <a:custGeom>
            <a:avLst/>
            <a:gdLst/>
            <a:ahLst/>
            <a:cxnLst/>
            <a:rect r="r" b="b" t="t" l="l"/>
            <a:pathLst>
              <a:path h="3531765" w="3869464">
                <a:moveTo>
                  <a:pt x="0" y="0"/>
                </a:moveTo>
                <a:lnTo>
                  <a:pt x="3869464" y="0"/>
                </a:lnTo>
                <a:lnTo>
                  <a:pt x="3869464" y="3531765"/>
                </a:lnTo>
                <a:lnTo>
                  <a:pt x="0" y="3531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52090" y="5795220"/>
            <a:ext cx="11183819" cy="6129666"/>
          </a:xfrm>
          <a:custGeom>
            <a:avLst/>
            <a:gdLst/>
            <a:ahLst/>
            <a:cxnLst/>
            <a:rect r="r" b="b" t="t" l="l"/>
            <a:pathLst>
              <a:path h="6129666" w="11183819">
                <a:moveTo>
                  <a:pt x="0" y="0"/>
                </a:moveTo>
                <a:lnTo>
                  <a:pt x="11183820" y="0"/>
                </a:lnTo>
                <a:lnTo>
                  <a:pt x="11183820" y="6129666"/>
                </a:lnTo>
                <a:lnTo>
                  <a:pt x="0" y="6129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8177" y="1590675"/>
            <a:ext cx="1343164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PROJECT (BOOKVAULT)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52588" y="1936115"/>
            <a:ext cx="1038282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484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484" y="3313845"/>
            <a:ext cx="516857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BookVault – A digital bookstore app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Free + paid books access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Built using MERN stack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55971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59710" y="3313845"/>
            <a:ext cx="516857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Students lack a single platform for digital books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Need for accessible &amp; affordable resources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09024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0240" y="3313845"/>
            <a:ext cx="516857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Provide free &amp; premium books online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Secure login system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Responsive, user-friendly design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52090" y="5795220"/>
            <a:ext cx="11183819" cy="6129666"/>
          </a:xfrm>
          <a:custGeom>
            <a:avLst/>
            <a:gdLst/>
            <a:ahLst/>
            <a:cxnLst/>
            <a:rect r="r" b="b" t="t" l="l"/>
            <a:pathLst>
              <a:path h="6129666" w="11183819">
                <a:moveTo>
                  <a:pt x="0" y="0"/>
                </a:moveTo>
                <a:lnTo>
                  <a:pt x="11183820" y="0"/>
                </a:lnTo>
                <a:lnTo>
                  <a:pt x="11183820" y="6129666"/>
                </a:lnTo>
                <a:lnTo>
                  <a:pt x="0" y="6129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8177" y="1590675"/>
            <a:ext cx="1343164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PROJECT (BOOKVAULT)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52588" y="1936115"/>
            <a:ext cx="1038282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484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484" y="3313845"/>
            <a:ext cx="516857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Client: React.js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Server: Express + Node.js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Da</a:t>
            </a: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tabase: MongoDB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Connected via REST APIs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55971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DIAGRAM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59710" y="3313845"/>
            <a:ext cx="5168579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Entities: Users, Books, Categories, Contacts, Admin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Relationships ensure structured database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09024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CASE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0240" y="3313845"/>
            <a:ext cx="516857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User: Register, search, explore, access free/paid books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Admin: Manage users, books, categories, queries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52090" y="5795220"/>
            <a:ext cx="11183819" cy="6129666"/>
          </a:xfrm>
          <a:custGeom>
            <a:avLst/>
            <a:gdLst/>
            <a:ahLst/>
            <a:cxnLst/>
            <a:rect r="r" b="b" t="t" l="l"/>
            <a:pathLst>
              <a:path h="6129666" w="11183819">
                <a:moveTo>
                  <a:pt x="0" y="0"/>
                </a:moveTo>
                <a:lnTo>
                  <a:pt x="11183820" y="0"/>
                </a:lnTo>
                <a:lnTo>
                  <a:pt x="11183820" y="6129666"/>
                </a:lnTo>
                <a:lnTo>
                  <a:pt x="0" y="6129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8177" y="1590675"/>
            <a:ext cx="1343164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PROJECT (BOOKVAULT)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52588" y="1936115"/>
            <a:ext cx="1038282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5971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59710" y="3313845"/>
            <a:ext cx="516857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Search &amp; category filters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Free vs. paid content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Dark theme option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Contact support system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2588" y="1143000"/>
            <a:ext cx="10382823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SCREENS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93492" y="5619750"/>
            <a:ext cx="10701017" cy="7361438"/>
          </a:xfrm>
          <a:custGeom>
            <a:avLst/>
            <a:gdLst/>
            <a:ahLst/>
            <a:cxnLst/>
            <a:rect r="r" b="b" t="t" l="l"/>
            <a:pathLst>
              <a:path h="7361438" w="10701017">
                <a:moveTo>
                  <a:pt x="0" y="0"/>
                </a:moveTo>
                <a:lnTo>
                  <a:pt x="10701016" y="0"/>
                </a:lnTo>
                <a:lnTo>
                  <a:pt x="10701016" y="7361438"/>
                </a:lnTo>
                <a:lnTo>
                  <a:pt x="0" y="7361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484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 &amp; EXPLORE BOOKS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484" y="3313845"/>
            <a:ext cx="516857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Homepage with featured books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Explore section for categories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55971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 UP &amp; LOGIN PAGES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59710" y="3313845"/>
            <a:ext cx="516857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Secure authentication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Role-based access (User/Admin)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090240" y="3313845"/>
            <a:ext cx="5168579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Book categories for easy navigation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Course &amp; subject-based access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42640" y="29899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CATEGORIES &amp; COURSE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2588" y="1143000"/>
            <a:ext cx="10382823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SCREENS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93492" y="5619750"/>
            <a:ext cx="10701017" cy="7361438"/>
          </a:xfrm>
          <a:custGeom>
            <a:avLst/>
            <a:gdLst/>
            <a:ahLst/>
            <a:cxnLst/>
            <a:rect r="r" b="b" t="t" l="l"/>
            <a:pathLst>
              <a:path h="7361438" w="10701017">
                <a:moveTo>
                  <a:pt x="0" y="0"/>
                </a:moveTo>
                <a:lnTo>
                  <a:pt x="10701016" y="0"/>
                </a:lnTo>
                <a:lnTo>
                  <a:pt x="10701016" y="7361438"/>
                </a:lnTo>
                <a:lnTo>
                  <a:pt x="0" y="7361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484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 &amp; PAID BOOKS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484" y="3313845"/>
            <a:ext cx="516857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Free book previews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Purchase option for premium books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55971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&amp; 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59710" y="3313845"/>
            <a:ext cx="516857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Submit queries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Learn about mission, team, and journey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090240" y="28375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90240" y="3313845"/>
            <a:ext cx="5168579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Backend: Express + Node on Render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Frontend: React on Netlify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ource Code: GitHub repository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1639" y="1028700"/>
            <a:ext cx="13924723" cy="8702952"/>
          </a:xfrm>
          <a:custGeom>
            <a:avLst/>
            <a:gdLst/>
            <a:ahLst/>
            <a:cxnLst/>
            <a:rect r="r" b="b" t="t" l="l"/>
            <a:pathLst>
              <a:path h="8702952" w="13924723">
                <a:moveTo>
                  <a:pt x="0" y="0"/>
                </a:moveTo>
                <a:lnTo>
                  <a:pt x="13924722" y="0"/>
                </a:lnTo>
                <a:lnTo>
                  <a:pt x="13924722" y="8702952"/>
                </a:lnTo>
                <a:lnTo>
                  <a:pt x="0" y="8702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0948" y="352269"/>
            <a:ext cx="516857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29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 PAGE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4675535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969066" y="8422039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41454" y="8818537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386971" y="610977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81639" y="1028700"/>
            <a:ext cx="13924723" cy="8702952"/>
          </a:xfrm>
          <a:custGeom>
            <a:avLst/>
            <a:gdLst/>
            <a:ahLst/>
            <a:cxnLst/>
            <a:rect r="r" b="b" t="t" l="l"/>
            <a:pathLst>
              <a:path h="8702952" w="13924723">
                <a:moveTo>
                  <a:pt x="0" y="0"/>
                </a:moveTo>
                <a:lnTo>
                  <a:pt x="13924722" y="0"/>
                </a:lnTo>
                <a:lnTo>
                  <a:pt x="13924722" y="8702952"/>
                </a:lnTo>
                <a:lnTo>
                  <a:pt x="0" y="8702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6622" y="1028700"/>
            <a:ext cx="14172197" cy="8857623"/>
          </a:xfrm>
          <a:custGeom>
            <a:avLst/>
            <a:gdLst/>
            <a:ahLst/>
            <a:cxnLst/>
            <a:rect r="r" b="b" t="t" l="l"/>
            <a:pathLst>
              <a:path h="8857623" w="14172197">
                <a:moveTo>
                  <a:pt x="0" y="0"/>
                </a:moveTo>
                <a:lnTo>
                  <a:pt x="14172197" y="0"/>
                </a:lnTo>
                <a:lnTo>
                  <a:pt x="14172197" y="8857623"/>
                </a:lnTo>
                <a:lnTo>
                  <a:pt x="0" y="8857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59710" y="411657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 &amp; EXPLORE BOOKS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108665" y="8145342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697719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924813" y="8837140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547019" y="658617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76622" y="1028700"/>
            <a:ext cx="14172197" cy="8857623"/>
          </a:xfrm>
          <a:custGeom>
            <a:avLst/>
            <a:gdLst/>
            <a:ahLst/>
            <a:cxnLst/>
            <a:rect r="r" b="b" t="t" l="l"/>
            <a:pathLst>
              <a:path h="8857623" w="14172197">
                <a:moveTo>
                  <a:pt x="0" y="0"/>
                </a:moveTo>
                <a:lnTo>
                  <a:pt x="14172197" y="0"/>
                </a:lnTo>
                <a:lnTo>
                  <a:pt x="14172197" y="8857623"/>
                </a:lnTo>
                <a:lnTo>
                  <a:pt x="0" y="8857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1442" y="1028700"/>
            <a:ext cx="14045116" cy="8778197"/>
          </a:xfrm>
          <a:custGeom>
            <a:avLst/>
            <a:gdLst/>
            <a:ahLst/>
            <a:cxnLst/>
            <a:rect r="r" b="b" t="t" l="l"/>
            <a:pathLst>
              <a:path h="8778197" w="14045116">
                <a:moveTo>
                  <a:pt x="0" y="0"/>
                </a:moveTo>
                <a:lnTo>
                  <a:pt x="14045116" y="0"/>
                </a:lnTo>
                <a:lnTo>
                  <a:pt x="14045116" y="8778197"/>
                </a:lnTo>
                <a:lnTo>
                  <a:pt x="0" y="87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12110" y="564057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 PAGE FOOTER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894657" y="806591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1" y="3481962"/>
                </a:lnTo>
                <a:lnTo>
                  <a:pt x="4274731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790730" y="-1860238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1" y="3481962"/>
                </a:lnTo>
                <a:lnTo>
                  <a:pt x="4274731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255463" y="8533265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368369" y="598927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21442" y="1035862"/>
            <a:ext cx="14045116" cy="8778197"/>
          </a:xfrm>
          <a:custGeom>
            <a:avLst/>
            <a:gdLst/>
            <a:ahLst/>
            <a:cxnLst/>
            <a:rect r="r" b="b" t="t" l="l"/>
            <a:pathLst>
              <a:path h="8778197" w="14045116">
                <a:moveTo>
                  <a:pt x="0" y="0"/>
                </a:moveTo>
                <a:lnTo>
                  <a:pt x="14045116" y="0"/>
                </a:lnTo>
                <a:lnTo>
                  <a:pt x="14045116" y="8778197"/>
                </a:lnTo>
                <a:lnTo>
                  <a:pt x="0" y="87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3910" y="1028700"/>
            <a:ext cx="13880180" cy="8675113"/>
          </a:xfrm>
          <a:custGeom>
            <a:avLst/>
            <a:gdLst/>
            <a:ahLst/>
            <a:cxnLst/>
            <a:rect r="r" b="b" t="t" l="l"/>
            <a:pathLst>
              <a:path h="8675113" w="13880180">
                <a:moveTo>
                  <a:pt x="0" y="0"/>
                </a:moveTo>
                <a:lnTo>
                  <a:pt x="13880180" y="0"/>
                </a:lnTo>
                <a:lnTo>
                  <a:pt x="13880180" y="8675113"/>
                </a:lnTo>
                <a:lnTo>
                  <a:pt x="0" y="8675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9315" y="348457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 UP PAGE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4563921" y="-1865077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891076" y="8090778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1" y="3481962"/>
                </a:lnTo>
                <a:lnTo>
                  <a:pt x="4274731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364788" y="595417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42674" y="8533265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03910" y="1028700"/>
            <a:ext cx="13880180" cy="8675113"/>
          </a:xfrm>
          <a:custGeom>
            <a:avLst/>
            <a:gdLst/>
            <a:ahLst/>
            <a:cxnLst/>
            <a:rect r="r" b="b" t="t" l="l"/>
            <a:pathLst>
              <a:path h="8675113" w="13880180">
                <a:moveTo>
                  <a:pt x="0" y="0"/>
                </a:moveTo>
                <a:lnTo>
                  <a:pt x="13880180" y="0"/>
                </a:lnTo>
                <a:lnTo>
                  <a:pt x="13880180" y="8675113"/>
                </a:lnTo>
                <a:lnTo>
                  <a:pt x="0" y="8675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8556" y="1289411"/>
            <a:ext cx="13770887" cy="8606805"/>
          </a:xfrm>
          <a:custGeom>
            <a:avLst/>
            <a:gdLst/>
            <a:ahLst/>
            <a:cxnLst/>
            <a:rect r="r" b="b" t="t" l="l"/>
            <a:pathLst>
              <a:path h="8606805" w="13770887">
                <a:moveTo>
                  <a:pt x="0" y="0"/>
                </a:moveTo>
                <a:lnTo>
                  <a:pt x="13770888" y="0"/>
                </a:lnTo>
                <a:lnTo>
                  <a:pt x="13770888" y="8606804"/>
                </a:lnTo>
                <a:lnTo>
                  <a:pt x="0" y="8606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59710" y="5568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LOGIN PAGE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987668" y="8155234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865140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333442" y="420848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83318" y="8319854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58556" y="1289411"/>
            <a:ext cx="13770887" cy="8606805"/>
          </a:xfrm>
          <a:custGeom>
            <a:avLst/>
            <a:gdLst/>
            <a:ahLst/>
            <a:cxnLst/>
            <a:rect r="r" b="b" t="t" l="l"/>
            <a:pathLst>
              <a:path h="8606805" w="13770887">
                <a:moveTo>
                  <a:pt x="0" y="0"/>
                </a:moveTo>
                <a:lnTo>
                  <a:pt x="13770888" y="0"/>
                </a:lnTo>
                <a:lnTo>
                  <a:pt x="13770888" y="8606804"/>
                </a:lnTo>
                <a:lnTo>
                  <a:pt x="0" y="8606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64053" y="1028700"/>
            <a:ext cx="13919706" cy="8699817"/>
          </a:xfrm>
          <a:custGeom>
            <a:avLst/>
            <a:gdLst/>
            <a:ahLst/>
            <a:cxnLst/>
            <a:rect r="r" b="b" t="t" l="l"/>
            <a:pathLst>
              <a:path h="8699817" w="13919706">
                <a:moveTo>
                  <a:pt x="0" y="0"/>
                </a:moveTo>
                <a:lnTo>
                  <a:pt x="13919707" y="0"/>
                </a:lnTo>
                <a:lnTo>
                  <a:pt x="13919707" y="8699817"/>
                </a:lnTo>
                <a:lnTo>
                  <a:pt x="0" y="869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17977" y="419285"/>
            <a:ext cx="7252046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CATEGORIES &amp; COURSE PAGE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108665" y="798753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697719" y="-1898700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023261" y="8353478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424176" y="454156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64053" y="1028700"/>
            <a:ext cx="13919706" cy="8699817"/>
          </a:xfrm>
          <a:custGeom>
            <a:avLst/>
            <a:gdLst/>
            <a:ahLst/>
            <a:cxnLst/>
            <a:rect r="r" b="b" t="t" l="l"/>
            <a:pathLst>
              <a:path h="8699817" w="13919706">
                <a:moveTo>
                  <a:pt x="0" y="0"/>
                </a:moveTo>
                <a:lnTo>
                  <a:pt x="13919707" y="0"/>
                </a:lnTo>
                <a:lnTo>
                  <a:pt x="13919707" y="8699817"/>
                </a:lnTo>
                <a:lnTo>
                  <a:pt x="0" y="869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9049" y="962581"/>
            <a:ext cx="14395361" cy="8997100"/>
          </a:xfrm>
          <a:custGeom>
            <a:avLst/>
            <a:gdLst/>
            <a:ahLst/>
            <a:cxnLst/>
            <a:rect r="r" b="b" t="t" l="l"/>
            <a:pathLst>
              <a:path h="8997100" w="14395361">
                <a:moveTo>
                  <a:pt x="0" y="0"/>
                </a:moveTo>
                <a:lnTo>
                  <a:pt x="14395361" y="0"/>
                </a:lnTo>
                <a:lnTo>
                  <a:pt x="14395361" y="8997100"/>
                </a:lnTo>
                <a:lnTo>
                  <a:pt x="0" y="8997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59710" y="329854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DARK THEME AVAILABLE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987668" y="8218700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734923" y="-1898700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078160" y="8205946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547019" y="576815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79049" y="962581"/>
            <a:ext cx="14395361" cy="8997100"/>
          </a:xfrm>
          <a:custGeom>
            <a:avLst/>
            <a:gdLst/>
            <a:ahLst/>
            <a:cxnLst/>
            <a:rect r="r" b="b" t="t" l="l"/>
            <a:pathLst>
              <a:path h="8997100" w="14395361">
                <a:moveTo>
                  <a:pt x="0" y="0"/>
                </a:moveTo>
                <a:lnTo>
                  <a:pt x="14395361" y="0"/>
                </a:lnTo>
                <a:lnTo>
                  <a:pt x="14395361" y="8997100"/>
                </a:lnTo>
                <a:lnTo>
                  <a:pt x="0" y="8997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774" y="333549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2" y="0"/>
                </a:lnTo>
                <a:lnTo>
                  <a:pt x="9200972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80230" y="4091229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90658" y="1747216"/>
            <a:ext cx="5168579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 BOOKS WHEN OPENED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4824354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108665" y="810085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776941" y="808810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6040222" y="500846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5183" y="389356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80230" y="4165639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43058" y="1899616"/>
            <a:ext cx="5168579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PAID BOOKS WHEN OPENED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-768021" y="817526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4303488" y="-19022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040222" y="37660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765728" y="816251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0929" y="1180717"/>
            <a:ext cx="13846142" cy="8653839"/>
          </a:xfrm>
          <a:custGeom>
            <a:avLst/>
            <a:gdLst/>
            <a:ahLst/>
            <a:cxnLst/>
            <a:rect r="r" b="b" t="t" l="l"/>
            <a:pathLst>
              <a:path h="8653839" w="13846142">
                <a:moveTo>
                  <a:pt x="0" y="0"/>
                </a:moveTo>
                <a:lnTo>
                  <a:pt x="13846142" y="0"/>
                </a:lnTo>
                <a:lnTo>
                  <a:pt x="13846142" y="8653839"/>
                </a:lnTo>
                <a:lnTo>
                  <a:pt x="0" y="8653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23725" y="404264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PAGE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820247" y="809357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455888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018772" y="8275487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079825" y="651224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20929" y="1180717"/>
            <a:ext cx="13846142" cy="8653839"/>
          </a:xfrm>
          <a:custGeom>
            <a:avLst/>
            <a:gdLst/>
            <a:ahLst/>
            <a:cxnLst/>
            <a:rect r="r" b="b" t="t" l="l"/>
            <a:pathLst>
              <a:path h="8653839" w="13846142">
                <a:moveTo>
                  <a:pt x="0" y="0"/>
                </a:moveTo>
                <a:lnTo>
                  <a:pt x="13846142" y="0"/>
                </a:lnTo>
                <a:lnTo>
                  <a:pt x="13846142" y="8653839"/>
                </a:lnTo>
                <a:lnTo>
                  <a:pt x="0" y="8653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20247" y="809357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455888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018772" y="8275487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079825" y="651224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01230" y="1028700"/>
            <a:ext cx="14400836" cy="9000523"/>
          </a:xfrm>
          <a:custGeom>
            <a:avLst/>
            <a:gdLst/>
            <a:ahLst/>
            <a:cxnLst/>
            <a:rect r="r" b="b" t="t" l="l"/>
            <a:pathLst>
              <a:path h="9000523" w="14400836">
                <a:moveTo>
                  <a:pt x="0" y="0"/>
                </a:moveTo>
                <a:lnTo>
                  <a:pt x="14400837" y="0"/>
                </a:lnTo>
                <a:lnTo>
                  <a:pt x="14400837" y="9000523"/>
                </a:lnTo>
                <a:lnTo>
                  <a:pt x="0" y="9000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93508" y="404264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PAGE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783042" y="799418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604707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133967" y="8130249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132198" y="395240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02561" y="1310934"/>
            <a:ext cx="13716882" cy="8573051"/>
          </a:xfrm>
          <a:custGeom>
            <a:avLst/>
            <a:gdLst/>
            <a:ahLst/>
            <a:cxnLst/>
            <a:rect r="r" b="b" t="t" l="l"/>
            <a:pathLst>
              <a:path h="8573051" w="13716882">
                <a:moveTo>
                  <a:pt x="0" y="0"/>
                </a:moveTo>
                <a:lnTo>
                  <a:pt x="13716882" y="0"/>
                </a:lnTo>
                <a:lnTo>
                  <a:pt x="13716882" y="8573051"/>
                </a:lnTo>
                <a:lnTo>
                  <a:pt x="0" y="85730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64510" y="55689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PAGE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342" y="1229005"/>
            <a:ext cx="13367906" cy="8354941"/>
          </a:xfrm>
          <a:custGeom>
            <a:avLst/>
            <a:gdLst/>
            <a:ahLst/>
            <a:cxnLst/>
            <a:rect r="r" b="b" t="t" l="l"/>
            <a:pathLst>
              <a:path h="8354941" w="13367906">
                <a:moveTo>
                  <a:pt x="0" y="0"/>
                </a:moveTo>
                <a:lnTo>
                  <a:pt x="13367905" y="0"/>
                </a:lnTo>
                <a:lnTo>
                  <a:pt x="13367905" y="8354941"/>
                </a:lnTo>
                <a:lnTo>
                  <a:pt x="0" y="8354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783042" y="8031389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4437285" y="-1973110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929341" y="8334875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126538" y="432445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01342" y="1167346"/>
            <a:ext cx="13565216" cy="8478260"/>
          </a:xfrm>
          <a:custGeom>
            <a:avLst/>
            <a:gdLst/>
            <a:ahLst/>
            <a:cxnLst/>
            <a:rect r="r" b="b" t="t" l="l"/>
            <a:pathLst>
              <a:path h="8478260" w="13565216">
                <a:moveTo>
                  <a:pt x="0" y="0"/>
                </a:moveTo>
                <a:lnTo>
                  <a:pt x="13565216" y="0"/>
                </a:lnTo>
                <a:lnTo>
                  <a:pt x="13565216" y="8478260"/>
                </a:lnTo>
                <a:lnTo>
                  <a:pt x="0" y="8478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01005" y="397575"/>
            <a:ext cx="516857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US PAGE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20247" y="8012787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21" y="-1526653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078160" y="82232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182345" y="56266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4966" y="352151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22353" y="4226389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36676" y="1483504"/>
            <a:ext cx="5403408" cy="152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b="true" sz="2927" spc="29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US PAGE</a:t>
            </a:r>
          </a:p>
          <a:p>
            <a:pPr algn="ctr">
              <a:lnSpc>
                <a:spcPts val="4098"/>
              </a:lnSpc>
            </a:pPr>
            <a:r>
              <a:rPr lang="en-US" b="true" sz="2927" spc="29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HAVING OUR VALUES AND OUR TEAM BOOKVAULT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783042" y="8068594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511695" y="-1740981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750707" y="8055840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094993" y="5144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74237" y="1117074"/>
            <a:ext cx="13908002" cy="8692501"/>
          </a:xfrm>
          <a:custGeom>
            <a:avLst/>
            <a:gdLst/>
            <a:ahLst/>
            <a:cxnLst/>
            <a:rect r="r" b="b" t="t" l="l"/>
            <a:pathLst>
              <a:path h="8692501" w="13908002">
                <a:moveTo>
                  <a:pt x="0" y="0"/>
                </a:moveTo>
                <a:lnTo>
                  <a:pt x="13908001" y="0"/>
                </a:lnTo>
                <a:lnTo>
                  <a:pt x="13908001" y="8692501"/>
                </a:lnTo>
                <a:lnTo>
                  <a:pt x="0" y="86925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74237" y="108193"/>
            <a:ext cx="13908002" cy="100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b="true" sz="2927" spc="29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US PAGE</a:t>
            </a:r>
          </a:p>
          <a:p>
            <a:pPr algn="ctr">
              <a:lnSpc>
                <a:spcPts val="4098"/>
              </a:lnSpc>
            </a:pPr>
            <a:r>
              <a:rPr lang="en-US" b="true" sz="2927" spc="29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HAVING VISION , MISSION , &amp; JOURNEY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38849" y="816160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21" y="-161966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133967" y="814885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547019" y="5144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7474" y="894430"/>
            <a:ext cx="14413052" cy="9008157"/>
          </a:xfrm>
          <a:custGeom>
            <a:avLst/>
            <a:gdLst/>
            <a:ahLst/>
            <a:cxnLst/>
            <a:rect r="r" b="b" t="t" l="l"/>
            <a:pathLst>
              <a:path h="9008157" w="14413052">
                <a:moveTo>
                  <a:pt x="0" y="0"/>
                </a:moveTo>
                <a:lnTo>
                  <a:pt x="14413052" y="0"/>
                </a:lnTo>
                <a:lnTo>
                  <a:pt x="14413052" y="9008157"/>
                </a:lnTo>
                <a:lnTo>
                  <a:pt x="0" y="9008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9640" y="267500"/>
            <a:ext cx="782871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SEARCH BAR FOR BOOKS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38849" y="816160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21" y="-161966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133967" y="814885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547019" y="5144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17443" y="1028700"/>
            <a:ext cx="14453114" cy="9033196"/>
          </a:xfrm>
          <a:custGeom>
            <a:avLst/>
            <a:gdLst/>
            <a:ahLst/>
            <a:cxnLst/>
            <a:rect r="r" b="b" t="t" l="l"/>
            <a:pathLst>
              <a:path h="9033196" w="14453114">
                <a:moveTo>
                  <a:pt x="0" y="0"/>
                </a:moveTo>
                <a:lnTo>
                  <a:pt x="14453114" y="0"/>
                </a:lnTo>
                <a:lnTo>
                  <a:pt x="14453114" y="9033196"/>
                </a:lnTo>
                <a:lnTo>
                  <a:pt x="0" y="90331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9640" y="267500"/>
            <a:ext cx="782871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SEARCH BAR FOR BOOKS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38849" y="816160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21" y="-161966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133967" y="814885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547019" y="5144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29640" y="267500"/>
            <a:ext cx="782871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SUBSCRIBE TO BOOKVAULT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21213" y="1129615"/>
            <a:ext cx="14036755" cy="8772972"/>
          </a:xfrm>
          <a:custGeom>
            <a:avLst/>
            <a:gdLst/>
            <a:ahLst/>
            <a:cxnLst/>
            <a:rect r="r" b="b" t="t" l="l"/>
            <a:pathLst>
              <a:path h="8772972" w="14036755">
                <a:moveTo>
                  <a:pt x="0" y="0"/>
                </a:moveTo>
                <a:lnTo>
                  <a:pt x="14036755" y="0"/>
                </a:lnTo>
                <a:lnTo>
                  <a:pt x="14036755" y="8772972"/>
                </a:lnTo>
                <a:lnTo>
                  <a:pt x="0" y="877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38849" y="816160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21" y="-161966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133967" y="814885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547019" y="5144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7474" y="894430"/>
            <a:ext cx="14413052" cy="9008157"/>
          </a:xfrm>
          <a:custGeom>
            <a:avLst/>
            <a:gdLst/>
            <a:ahLst/>
            <a:cxnLst/>
            <a:rect r="r" b="b" t="t" l="l"/>
            <a:pathLst>
              <a:path h="9008157" w="14413052">
                <a:moveTo>
                  <a:pt x="0" y="0"/>
                </a:moveTo>
                <a:lnTo>
                  <a:pt x="14413052" y="0"/>
                </a:lnTo>
                <a:lnTo>
                  <a:pt x="14413052" y="9008157"/>
                </a:lnTo>
                <a:lnTo>
                  <a:pt x="0" y="9008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9640" y="267500"/>
            <a:ext cx="782871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BOOKS IN DATABASE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38849" y="816160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21" y="-161966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133967" y="814885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547019" y="5144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1273" y="1028700"/>
            <a:ext cx="14425455" cy="9015909"/>
          </a:xfrm>
          <a:custGeom>
            <a:avLst/>
            <a:gdLst/>
            <a:ahLst/>
            <a:cxnLst/>
            <a:rect r="r" b="b" t="t" l="l"/>
            <a:pathLst>
              <a:path h="9015909" w="14425455">
                <a:moveTo>
                  <a:pt x="0" y="0"/>
                </a:moveTo>
                <a:lnTo>
                  <a:pt x="14425454" y="0"/>
                </a:lnTo>
                <a:lnTo>
                  <a:pt x="14425454" y="9015909"/>
                </a:lnTo>
                <a:lnTo>
                  <a:pt x="0" y="90159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9640" y="267500"/>
            <a:ext cx="782871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USERS SIGNED IN DATABASE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38849" y="8161606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21" y="-1619665"/>
            <a:ext cx="4274730" cy="3481962"/>
          </a:xfrm>
          <a:custGeom>
            <a:avLst/>
            <a:gdLst/>
            <a:ahLst/>
            <a:cxnLst/>
            <a:rect r="r" b="b" t="t" l="l"/>
            <a:pathLst>
              <a:path h="3481962" w="4274730">
                <a:moveTo>
                  <a:pt x="0" y="3481962"/>
                </a:moveTo>
                <a:lnTo>
                  <a:pt x="4274730" y="3481962"/>
                </a:lnTo>
                <a:lnTo>
                  <a:pt x="4274730" y="0"/>
                </a:lnTo>
                <a:lnTo>
                  <a:pt x="0" y="0"/>
                </a:lnTo>
                <a:lnTo>
                  <a:pt x="0" y="34819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133967" y="8148852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0"/>
                </a:lnTo>
                <a:lnTo>
                  <a:pt x="0" y="350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547019" y="514461"/>
            <a:ext cx="3481962" cy="3507471"/>
          </a:xfrm>
          <a:custGeom>
            <a:avLst/>
            <a:gdLst/>
            <a:ahLst/>
            <a:cxnLst/>
            <a:rect r="r" b="b" t="t" l="l"/>
            <a:pathLst>
              <a:path h="3507471" w="3481962">
                <a:moveTo>
                  <a:pt x="0" y="0"/>
                </a:moveTo>
                <a:lnTo>
                  <a:pt x="3481962" y="0"/>
                </a:lnTo>
                <a:lnTo>
                  <a:pt x="3481962" y="3507471"/>
                </a:lnTo>
                <a:lnTo>
                  <a:pt x="0" y="350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21213" y="1239004"/>
            <a:ext cx="14079234" cy="8799521"/>
          </a:xfrm>
          <a:custGeom>
            <a:avLst/>
            <a:gdLst/>
            <a:ahLst/>
            <a:cxnLst/>
            <a:rect r="r" b="b" t="t" l="l"/>
            <a:pathLst>
              <a:path h="8799521" w="14079234">
                <a:moveTo>
                  <a:pt x="0" y="0"/>
                </a:moveTo>
                <a:lnTo>
                  <a:pt x="14079234" y="0"/>
                </a:lnTo>
                <a:lnTo>
                  <a:pt x="14079234" y="8799521"/>
                </a:lnTo>
                <a:lnTo>
                  <a:pt x="0" y="879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46470" y="479590"/>
            <a:ext cx="782871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QUERIES IN DATABASE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6315" y="1038225"/>
            <a:ext cx="1453537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44549" y="2028020"/>
            <a:ext cx="81153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 spc="27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COURSE OBJECTIVE: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70577" y="2494745"/>
            <a:ext cx="12114268" cy="1298789"/>
            <a:chOff x="0" y="0"/>
            <a:chExt cx="3190589" cy="3420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0589" cy="342068"/>
            </a:xfrm>
            <a:custGeom>
              <a:avLst/>
              <a:gdLst/>
              <a:ahLst/>
              <a:cxnLst/>
              <a:rect r="r" b="b" t="t" l="l"/>
              <a:pathLst>
                <a:path h="342068" w="3190589">
                  <a:moveTo>
                    <a:pt x="6391" y="0"/>
                  </a:moveTo>
                  <a:lnTo>
                    <a:pt x="3184198" y="0"/>
                  </a:lnTo>
                  <a:cubicBezTo>
                    <a:pt x="3185893" y="0"/>
                    <a:pt x="3187519" y="673"/>
                    <a:pt x="3188717" y="1872"/>
                  </a:cubicBezTo>
                  <a:cubicBezTo>
                    <a:pt x="3189916" y="3070"/>
                    <a:pt x="3190589" y="4696"/>
                    <a:pt x="3190589" y="6391"/>
                  </a:cubicBezTo>
                  <a:lnTo>
                    <a:pt x="3190589" y="335677"/>
                  </a:lnTo>
                  <a:cubicBezTo>
                    <a:pt x="3190589" y="337372"/>
                    <a:pt x="3189916" y="338997"/>
                    <a:pt x="3188717" y="340196"/>
                  </a:cubicBezTo>
                  <a:cubicBezTo>
                    <a:pt x="3187519" y="341394"/>
                    <a:pt x="3185893" y="342068"/>
                    <a:pt x="3184198" y="342068"/>
                  </a:cubicBezTo>
                  <a:lnTo>
                    <a:pt x="6391" y="342068"/>
                  </a:lnTo>
                  <a:cubicBezTo>
                    <a:pt x="4696" y="342068"/>
                    <a:pt x="3070" y="341394"/>
                    <a:pt x="1872" y="340196"/>
                  </a:cubicBezTo>
                  <a:cubicBezTo>
                    <a:pt x="673" y="338997"/>
                    <a:pt x="0" y="337372"/>
                    <a:pt x="0" y="335677"/>
                  </a:cubicBezTo>
                  <a:lnTo>
                    <a:pt x="0" y="6391"/>
                  </a:lnTo>
                  <a:cubicBezTo>
                    <a:pt x="0" y="4696"/>
                    <a:pt x="673" y="3070"/>
                    <a:pt x="1872" y="1872"/>
                  </a:cubicBezTo>
                  <a:cubicBezTo>
                    <a:pt x="3070" y="673"/>
                    <a:pt x="4696" y="0"/>
                    <a:pt x="6391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90589" cy="38016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gain hands-on experience in MERN full stack development through a real-world project.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18423" y="4078532"/>
            <a:ext cx="506416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6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SKILLS ACQUIRED: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529364" y="4469057"/>
            <a:ext cx="4755480" cy="1212063"/>
            <a:chOff x="0" y="0"/>
            <a:chExt cx="1252472" cy="3192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2472" cy="319226"/>
            </a:xfrm>
            <a:custGeom>
              <a:avLst/>
              <a:gdLst/>
              <a:ahLst/>
              <a:cxnLst/>
              <a:rect r="r" b="b" t="t" l="l"/>
              <a:pathLst>
                <a:path h="319226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302946"/>
                  </a:lnTo>
                  <a:cubicBezTo>
                    <a:pt x="1252472" y="307264"/>
                    <a:pt x="1250757" y="311405"/>
                    <a:pt x="1247704" y="314458"/>
                  </a:cubicBezTo>
                  <a:cubicBezTo>
                    <a:pt x="1244651" y="317511"/>
                    <a:pt x="1240510" y="319226"/>
                    <a:pt x="1236192" y="319226"/>
                  </a:cubicBezTo>
                  <a:lnTo>
                    <a:pt x="16280" y="319226"/>
                  </a:lnTo>
                  <a:cubicBezTo>
                    <a:pt x="11962" y="319226"/>
                    <a:pt x="7821" y="317511"/>
                    <a:pt x="4768" y="314458"/>
                  </a:cubicBezTo>
                  <a:cubicBezTo>
                    <a:pt x="1715" y="311405"/>
                    <a:pt x="0" y="307264"/>
                    <a:pt x="0" y="302946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2472" cy="3573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MERN Full Stack Development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18423" y="5738270"/>
            <a:ext cx="4755480" cy="950812"/>
            <a:chOff x="0" y="0"/>
            <a:chExt cx="1252472" cy="2504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2472" cy="250420"/>
            </a:xfrm>
            <a:custGeom>
              <a:avLst/>
              <a:gdLst/>
              <a:ahLst/>
              <a:cxnLst/>
              <a:rect r="r" b="b" t="t" l="l"/>
              <a:pathLst>
                <a:path h="250420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234140"/>
                  </a:lnTo>
                  <a:cubicBezTo>
                    <a:pt x="1252472" y="238457"/>
                    <a:pt x="1250757" y="242598"/>
                    <a:pt x="1247704" y="245651"/>
                  </a:cubicBezTo>
                  <a:cubicBezTo>
                    <a:pt x="1244651" y="248704"/>
                    <a:pt x="1240510" y="250420"/>
                    <a:pt x="1236192" y="250420"/>
                  </a:cubicBezTo>
                  <a:lnTo>
                    <a:pt x="16280" y="250420"/>
                  </a:lnTo>
                  <a:cubicBezTo>
                    <a:pt x="11962" y="250420"/>
                    <a:pt x="7821" y="248704"/>
                    <a:pt x="4768" y="245651"/>
                  </a:cubicBezTo>
                  <a:cubicBezTo>
                    <a:pt x="1715" y="242598"/>
                    <a:pt x="0" y="238457"/>
                    <a:pt x="0" y="234140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52472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JWT authentication &amp; security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29364" y="6746231"/>
            <a:ext cx="4755480" cy="950812"/>
            <a:chOff x="0" y="0"/>
            <a:chExt cx="1252472" cy="2504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2472" cy="250420"/>
            </a:xfrm>
            <a:custGeom>
              <a:avLst/>
              <a:gdLst/>
              <a:ahLst/>
              <a:cxnLst/>
              <a:rect r="r" b="b" t="t" l="l"/>
              <a:pathLst>
                <a:path h="250420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234140"/>
                  </a:lnTo>
                  <a:cubicBezTo>
                    <a:pt x="1252472" y="238457"/>
                    <a:pt x="1250757" y="242598"/>
                    <a:pt x="1247704" y="245651"/>
                  </a:cubicBezTo>
                  <a:cubicBezTo>
                    <a:pt x="1244651" y="248704"/>
                    <a:pt x="1240510" y="250420"/>
                    <a:pt x="1236192" y="250420"/>
                  </a:cubicBezTo>
                  <a:lnTo>
                    <a:pt x="16280" y="250420"/>
                  </a:lnTo>
                  <a:cubicBezTo>
                    <a:pt x="11962" y="250420"/>
                    <a:pt x="7821" y="248704"/>
                    <a:pt x="4768" y="245651"/>
                  </a:cubicBezTo>
                  <a:cubicBezTo>
                    <a:pt x="1715" y="242598"/>
                    <a:pt x="0" y="238457"/>
                    <a:pt x="0" y="234140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2472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Tailwind CSS for UI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18423" y="8762155"/>
            <a:ext cx="4755480" cy="1212063"/>
            <a:chOff x="0" y="0"/>
            <a:chExt cx="1252472" cy="319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2472" cy="319226"/>
            </a:xfrm>
            <a:custGeom>
              <a:avLst/>
              <a:gdLst/>
              <a:ahLst/>
              <a:cxnLst/>
              <a:rect r="r" b="b" t="t" l="l"/>
              <a:pathLst>
                <a:path h="319226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302946"/>
                  </a:lnTo>
                  <a:cubicBezTo>
                    <a:pt x="1252472" y="307264"/>
                    <a:pt x="1250757" y="311405"/>
                    <a:pt x="1247704" y="314458"/>
                  </a:cubicBezTo>
                  <a:cubicBezTo>
                    <a:pt x="1244651" y="317511"/>
                    <a:pt x="1240510" y="319226"/>
                    <a:pt x="1236192" y="319226"/>
                  </a:cubicBezTo>
                  <a:lnTo>
                    <a:pt x="16280" y="319226"/>
                  </a:lnTo>
                  <a:cubicBezTo>
                    <a:pt x="11962" y="319226"/>
                    <a:pt x="7821" y="317511"/>
                    <a:pt x="4768" y="314458"/>
                  </a:cubicBezTo>
                  <a:cubicBezTo>
                    <a:pt x="1715" y="311405"/>
                    <a:pt x="0" y="307264"/>
                    <a:pt x="0" y="302946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52472" cy="3573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Deployment on Netlify &amp; Render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18423" y="7754193"/>
            <a:ext cx="4755480" cy="950812"/>
            <a:chOff x="0" y="0"/>
            <a:chExt cx="1252472" cy="2504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2472" cy="250420"/>
            </a:xfrm>
            <a:custGeom>
              <a:avLst/>
              <a:gdLst/>
              <a:ahLst/>
              <a:cxnLst/>
              <a:rect r="r" b="b" t="t" l="l"/>
              <a:pathLst>
                <a:path h="250420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234140"/>
                  </a:lnTo>
                  <a:cubicBezTo>
                    <a:pt x="1252472" y="238457"/>
                    <a:pt x="1250757" y="242598"/>
                    <a:pt x="1247704" y="245651"/>
                  </a:cubicBezTo>
                  <a:cubicBezTo>
                    <a:pt x="1244651" y="248704"/>
                    <a:pt x="1240510" y="250420"/>
                    <a:pt x="1236192" y="250420"/>
                  </a:cubicBezTo>
                  <a:lnTo>
                    <a:pt x="16280" y="250420"/>
                  </a:lnTo>
                  <a:cubicBezTo>
                    <a:pt x="11962" y="250420"/>
                    <a:pt x="7821" y="248704"/>
                    <a:pt x="4768" y="245651"/>
                  </a:cubicBezTo>
                  <a:cubicBezTo>
                    <a:pt x="1715" y="242598"/>
                    <a:pt x="0" y="238457"/>
                    <a:pt x="0" y="234140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52472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GitHub collaboration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689036" y="4209073"/>
            <a:ext cx="7458966" cy="5895231"/>
          </a:xfrm>
          <a:custGeom>
            <a:avLst/>
            <a:gdLst/>
            <a:ahLst/>
            <a:cxnLst/>
            <a:rect r="r" b="b" t="t" l="l"/>
            <a:pathLst>
              <a:path h="5895231" w="7458966">
                <a:moveTo>
                  <a:pt x="0" y="0"/>
                </a:moveTo>
                <a:lnTo>
                  <a:pt x="7458967" y="0"/>
                </a:lnTo>
                <a:lnTo>
                  <a:pt x="7458967" y="5895231"/>
                </a:lnTo>
                <a:lnTo>
                  <a:pt x="0" y="5895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6315" y="1038225"/>
            <a:ext cx="1453537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43363" y="2222307"/>
            <a:ext cx="1373287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6">
                <a:solidFill>
                  <a:srgbClr val="4527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PRACTICAL APPLICATIONS &amp; INDUSTRY STANDARDS FOLLOWED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39811" y="6359275"/>
            <a:ext cx="4755480" cy="950812"/>
            <a:chOff x="0" y="0"/>
            <a:chExt cx="1252472" cy="2504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2472" cy="250420"/>
            </a:xfrm>
            <a:custGeom>
              <a:avLst/>
              <a:gdLst/>
              <a:ahLst/>
              <a:cxnLst/>
              <a:rect r="r" b="b" t="t" l="l"/>
              <a:pathLst>
                <a:path h="250420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234140"/>
                  </a:lnTo>
                  <a:cubicBezTo>
                    <a:pt x="1252472" y="238457"/>
                    <a:pt x="1250757" y="242598"/>
                    <a:pt x="1247704" y="245651"/>
                  </a:cubicBezTo>
                  <a:cubicBezTo>
                    <a:pt x="1244651" y="248704"/>
                    <a:pt x="1240510" y="250420"/>
                    <a:pt x="1236192" y="250420"/>
                  </a:cubicBezTo>
                  <a:lnTo>
                    <a:pt x="16280" y="250420"/>
                  </a:lnTo>
                  <a:cubicBezTo>
                    <a:pt x="11962" y="250420"/>
                    <a:pt x="7821" y="248704"/>
                    <a:pt x="4768" y="245651"/>
                  </a:cubicBezTo>
                  <a:cubicBezTo>
                    <a:pt x="1715" y="242598"/>
                    <a:pt x="0" y="238457"/>
                    <a:pt x="0" y="234140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52472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GitHub version control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66260" y="2870007"/>
            <a:ext cx="4755480" cy="1212063"/>
            <a:chOff x="0" y="0"/>
            <a:chExt cx="1252472" cy="3192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472" cy="319226"/>
            </a:xfrm>
            <a:custGeom>
              <a:avLst/>
              <a:gdLst/>
              <a:ahLst/>
              <a:cxnLst/>
              <a:rect r="r" b="b" t="t" l="l"/>
              <a:pathLst>
                <a:path h="319226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302946"/>
                  </a:lnTo>
                  <a:cubicBezTo>
                    <a:pt x="1252472" y="307264"/>
                    <a:pt x="1250757" y="311405"/>
                    <a:pt x="1247704" y="314458"/>
                  </a:cubicBezTo>
                  <a:cubicBezTo>
                    <a:pt x="1244651" y="317511"/>
                    <a:pt x="1240510" y="319226"/>
                    <a:pt x="1236192" y="319226"/>
                  </a:cubicBezTo>
                  <a:lnTo>
                    <a:pt x="16280" y="319226"/>
                  </a:lnTo>
                  <a:cubicBezTo>
                    <a:pt x="11962" y="319226"/>
                    <a:pt x="7821" y="317511"/>
                    <a:pt x="4768" y="314458"/>
                  </a:cubicBezTo>
                  <a:cubicBezTo>
                    <a:pt x="1715" y="311405"/>
                    <a:pt x="0" y="307264"/>
                    <a:pt x="0" y="302946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52472" cy="3573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Code reviews &amp; documentation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66260" y="4216067"/>
            <a:ext cx="4755480" cy="1212063"/>
            <a:chOff x="0" y="0"/>
            <a:chExt cx="1252472" cy="3192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2472" cy="319226"/>
            </a:xfrm>
            <a:custGeom>
              <a:avLst/>
              <a:gdLst/>
              <a:ahLst/>
              <a:cxnLst/>
              <a:rect r="r" b="b" t="t" l="l"/>
              <a:pathLst>
                <a:path h="319226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302946"/>
                  </a:lnTo>
                  <a:cubicBezTo>
                    <a:pt x="1252472" y="307264"/>
                    <a:pt x="1250757" y="311405"/>
                    <a:pt x="1247704" y="314458"/>
                  </a:cubicBezTo>
                  <a:cubicBezTo>
                    <a:pt x="1244651" y="317511"/>
                    <a:pt x="1240510" y="319226"/>
                    <a:pt x="1236192" y="319226"/>
                  </a:cubicBezTo>
                  <a:lnTo>
                    <a:pt x="16280" y="319226"/>
                  </a:lnTo>
                  <a:cubicBezTo>
                    <a:pt x="11962" y="319226"/>
                    <a:pt x="7821" y="317511"/>
                    <a:pt x="4768" y="314458"/>
                  </a:cubicBezTo>
                  <a:cubicBezTo>
                    <a:pt x="1715" y="311405"/>
                    <a:pt x="0" y="307264"/>
                    <a:pt x="0" y="302946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52472" cy="3573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Environment variables for security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9811" y="2870007"/>
            <a:ext cx="4755480" cy="950812"/>
            <a:chOff x="0" y="0"/>
            <a:chExt cx="1252472" cy="250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2472" cy="250420"/>
            </a:xfrm>
            <a:custGeom>
              <a:avLst/>
              <a:gdLst/>
              <a:ahLst/>
              <a:cxnLst/>
              <a:rect r="r" b="b" t="t" l="l"/>
              <a:pathLst>
                <a:path h="250420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234140"/>
                  </a:lnTo>
                  <a:cubicBezTo>
                    <a:pt x="1252472" y="238457"/>
                    <a:pt x="1250757" y="242598"/>
                    <a:pt x="1247704" y="245651"/>
                  </a:cubicBezTo>
                  <a:cubicBezTo>
                    <a:pt x="1244651" y="248704"/>
                    <a:pt x="1240510" y="250420"/>
                    <a:pt x="1236192" y="250420"/>
                  </a:cubicBezTo>
                  <a:lnTo>
                    <a:pt x="16280" y="250420"/>
                  </a:lnTo>
                  <a:cubicBezTo>
                    <a:pt x="11962" y="250420"/>
                    <a:pt x="7821" y="248704"/>
                    <a:pt x="4768" y="245651"/>
                  </a:cubicBezTo>
                  <a:cubicBezTo>
                    <a:pt x="1715" y="242598"/>
                    <a:pt x="0" y="238457"/>
                    <a:pt x="0" y="234140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52472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Built CRUD operations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39811" y="3948750"/>
            <a:ext cx="4755480" cy="1212063"/>
            <a:chOff x="0" y="0"/>
            <a:chExt cx="1252472" cy="3192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2472" cy="319226"/>
            </a:xfrm>
            <a:custGeom>
              <a:avLst/>
              <a:gdLst/>
              <a:ahLst/>
              <a:cxnLst/>
              <a:rect r="r" b="b" t="t" l="l"/>
              <a:pathLst>
                <a:path h="319226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302946"/>
                  </a:lnTo>
                  <a:cubicBezTo>
                    <a:pt x="1252472" y="307264"/>
                    <a:pt x="1250757" y="311405"/>
                    <a:pt x="1247704" y="314458"/>
                  </a:cubicBezTo>
                  <a:cubicBezTo>
                    <a:pt x="1244651" y="317511"/>
                    <a:pt x="1240510" y="319226"/>
                    <a:pt x="1236192" y="319226"/>
                  </a:cubicBezTo>
                  <a:lnTo>
                    <a:pt x="16280" y="319226"/>
                  </a:lnTo>
                  <a:cubicBezTo>
                    <a:pt x="11962" y="319226"/>
                    <a:pt x="7821" y="317511"/>
                    <a:pt x="4768" y="314458"/>
                  </a:cubicBezTo>
                  <a:cubicBezTo>
                    <a:pt x="1715" y="311405"/>
                    <a:pt x="0" y="307264"/>
                    <a:pt x="0" y="302946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52472" cy="3573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Implemented secure login system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39811" y="5284638"/>
            <a:ext cx="4755480" cy="950812"/>
            <a:chOff x="0" y="0"/>
            <a:chExt cx="1252472" cy="2504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2472" cy="250420"/>
            </a:xfrm>
            <a:custGeom>
              <a:avLst/>
              <a:gdLst/>
              <a:ahLst/>
              <a:cxnLst/>
              <a:rect r="r" b="b" t="t" l="l"/>
              <a:pathLst>
                <a:path h="250420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234140"/>
                  </a:lnTo>
                  <a:cubicBezTo>
                    <a:pt x="1252472" y="238457"/>
                    <a:pt x="1250757" y="242598"/>
                    <a:pt x="1247704" y="245651"/>
                  </a:cubicBezTo>
                  <a:cubicBezTo>
                    <a:pt x="1244651" y="248704"/>
                    <a:pt x="1240510" y="250420"/>
                    <a:pt x="1236192" y="250420"/>
                  </a:cubicBezTo>
                  <a:lnTo>
                    <a:pt x="16280" y="250420"/>
                  </a:lnTo>
                  <a:cubicBezTo>
                    <a:pt x="11962" y="250420"/>
                    <a:pt x="7821" y="248704"/>
                    <a:pt x="4768" y="245651"/>
                  </a:cubicBezTo>
                  <a:cubicBezTo>
                    <a:pt x="1715" y="242598"/>
                    <a:pt x="0" y="238457"/>
                    <a:pt x="0" y="234140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52472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Developed responsive UI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66525" y="5572584"/>
            <a:ext cx="4755480" cy="950812"/>
            <a:chOff x="0" y="0"/>
            <a:chExt cx="1252472" cy="2504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2472" cy="250420"/>
            </a:xfrm>
            <a:custGeom>
              <a:avLst/>
              <a:gdLst/>
              <a:ahLst/>
              <a:cxnLst/>
              <a:rect r="r" b="b" t="t" l="l"/>
              <a:pathLst>
                <a:path h="250420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234140"/>
                  </a:lnTo>
                  <a:cubicBezTo>
                    <a:pt x="1252472" y="238457"/>
                    <a:pt x="1250757" y="242598"/>
                    <a:pt x="1247704" y="245651"/>
                  </a:cubicBezTo>
                  <a:cubicBezTo>
                    <a:pt x="1244651" y="248704"/>
                    <a:pt x="1240510" y="250420"/>
                    <a:pt x="1236192" y="250420"/>
                  </a:cubicBezTo>
                  <a:lnTo>
                    <a:pt x="16280" y="250420"/>
                  </a:lnTo>
                  <a:cubicBezTo>
                    <a:pt x="11962" y="250420"/>
                    <a:pt x="7821" y="248704"/>
                    <a:pt x="4768" y="245651"/>
                  </a:cubicBezTo>
                  <a:cubicBezTo>
                    <a:pt x="1715" y="242598"/>
                    <a:pt x="0" y="238457"/>
                    <a:pt x="0" y="234140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52472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Error handling &amp; validation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66525" y="6666271"/>
            <a:ext cx="4755480" cy="1212063"/>
            <a:chOff x="0" y="0"/>
            <a:chExt cx="1252472" cy="3192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2472" cy="319226"/>
            </a:xfrm>
            <a:custGeom>
              <a:avLst/>
              <a:gdLst/>
              <a:ahLst/>
              <a:cxnLst/>
              <a:rect r="r" b="b" t="t" l="l"/>
              <a:pathLst>
                <a:path h="319226" w="1252472">
                  <a:moveTo>
                    <a:pt x="16280" y="0"/>
                  </a:moveTo>
                  <a:lnTo>
                    <a:pt x="1236192" y="0"/>
                  </a:lnTo>
                  <a:cubicBezTo>
                    <a:pt x="1240510" y="0"/>
                    <a:pt x="1244651" y="1715"/>
                    <a:pt x="1247704" y="4768"/>
                  </a:cubicBezTo>
                  <a:cubicBezTo>
                    <a:pt x="1250757" y="7821"/>
                    <a:pt x="1252472" y="11962"/>
                    <a:pt x="1252472" y="16280"/>
                  </a:cubicBezTo>
                  <a:lnTo>
                    <a:pt x="1252472" y="302946"/>
                  </a:lnTo>
                  <a:cubicBezTo>
                    <a:pt x="1252472" y="307264"/>
                    <a:pt x="1250757" y="311405"/>
                    <a:pt x="1247704" y="314458"/>
                  </a:cubicBezTo>
                  <a:cubicBezTo>
                    <a:pt x="1244651" y="317511"/>
                    <a:pt x="1240510" y="319226"/>
                    <a:pt x="1236192" y="319226"/>
                  </a:cubicBezTo>
                  <a:lnTo>
                    <a:pt x="16280" y="319226"/>
                  </a:lnTo>
                  <a:cubicBezTo>
                    <a:pt x="11962" y="319226"/>
                    <a:pt x="7821" y="317511"/>
                    <a:pt x="4768" y="314458"/>
                  </a:cubicBezTo>
                  <a:cubicBezTo>
                    <a:pt x="1715" y="311405"/>
                    <a:pt x="0" y="307264"/>
                    <a:pt x="0" y="302946"/>
                  </a:cubicBezTo>
                  <a:lnTo>
                    <a:pt x="0" y="16280"/>
                  </a:lnTo>
                  <a:cubicBezTo>
                    <a:pt x="0" y="11962"/>
                    <a:pt x="1715" y="7821"/>
                    <a:pt x="4768" y="4768"/>
                  </a:cubicBezTo>
                  <a:cubicBezTo>
                    <a:pt x="7821" y="1715"/>
                    <a:pt x="11962" y="0"/>
                    <a:pt x="16280" y="0"/>
                  </a:cubicBezTo>
                  <a:close/>
                </a:path>
              </a:pathLst>
            </a:custGeom>
            <a:solidFill>
              <a:srgbClr val="FFB69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52472" cy="3573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4527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Responsive, mobile-first design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11764617" y="2967451"/>
            <a:ext cx="5201769" cy="6161077"/>
          </a:xfrm>
          <a:custGeom>
            <a:avLst/>
            <a:gdLst/>
            <a:ahLst/>
            <a:cxnLst/>
            <a:rect r="r" b="b" t="t" l="l"/>
            <a:pathLst>
              <a:path h="6161077" w="5201769">
                <a:moveTo>
                  <a:pt x="5201769" y="0"/>
                </a:moveTo>
                <a:lnTo>
                  <a:pt x="0" y="0"/>
                </a:lnTo>
                <a:lnTo>
                  <a:pt x="0" y="6161077"/>
                </a:lnTo>
                <a:lnTo>
                  <a:pt x="5201769" y="6161077"/>
                </a:lnTo>
                <a:lnTo>
                  <a:pt x="520176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8456" y="2309447"/>
            <a:ext cx="8115300" cy="158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SUMMARY OF THE SUMMER TRAINING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80168"/>
            <a:ext cx="8115300" cy="294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Successful completion of College Summer Training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Practical full-stack project delivered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 spc="27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Improved problem-solving 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04994" y="1860304"/>
            <a:ext cx="6909710" cy="7063153"/>
          </a:xfrm>
          <a:custGeom>
            <a:avLst/>
            <a:gdLst/>
            <a:ahLst/>
            <a:cxnLst/>
            <a:rect r="r" b="b" t="t" l="l"/>
            <a:pathLst>
              <a:path h="7063153" w="6909710">
                <a:moveTo>
                  <a:pt x="0" y="0"/>
                </a:moveTo>
                <a:lnTo>
                  <a:pt x="6909710" y="0"/>
                </a:lnTo>
                <a:lnTo>
                  <a:pt x="6909710" y="7063153"/>
                </a:lnTo>
                <a:lnTo>
                  <a:pt x="0" y="70631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688" y="1028700"/>
            <a:ext cx="689095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b="true" sz="5800" spc="58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688" y="2282867"/>
            <a:ext cx="8611739" cy="182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AI-based book recommendations</a:t>
            </a:r>
          </a:p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Mobile app version</a:t>
            </a:r>
          </a:p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Cloud scalability &amp; analytics</a:t>
            </a:r>
          </a:p>
          <a:p>
            <a:pPr algn="l">
              <a:lnSpc>
                <a:spcPts val="366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8460" y="4116632"/>
            <a:ext cx="1096487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b="true" sz="5800" spc="58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 REFLECTIONS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688" y="5373932"/>
            <a:ext cx="8611739" cy="182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Boosted technical confidence</a:t>
            </a:r>
          </a:p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Hands-on real-world exposure</a:t>
            </a:r>
          </a:p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Stronger career readiness</a:t>
            </a:r>
          </a:p>
          <a:p>
            <a:pPr algn="l">
              <a:lnSpc>
                <a:spcPts val="366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194612" y="1483466"/>
            <a:ext cx="6501975" cy="7701067"/>
          </a:xfrm>
          <a:custGeom>
            <a:avLst/>
            <a:gdLst/>
            <a:ahLst/>
            <a:cxnLst/>
            <a:rect r="r" b="b" t="t" l="l"/>
            <a:pathLst>
              <a:path h="7701067" w="6501975">
                <a:moveTo>
                  <a:pt x="0" y="0"/>
                </a:moveTo>
                <a:lnTo>
                  <a:pt x="6501975" y="0"/>
                </a:lnTo>
                <a:lnTo>
                  <a:pt x="6501975" y="7701068"/>
                </a:lnTo>
                <a:lnTo>
                  <a:pt x="0" y="7701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688" y="1028700"/>
            <a:ext cx="908603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b="true" sz="5800" spc="58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ACKNOWLEDGEMENT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688" y="2282867"/>
            <a:ext cx="8611739" cy="182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Techvision Technologies mentors</a:t>
            </a:r>
          </a:p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</a:t>
            </a: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ollege faculty &amp; training team</a:t>
            </a:r>
          </a:p>
          <a:p>
            <a:pPr algn="l" marL="608558" indent="-304279" lvl="1">
              <a:lnSpc>
                <a:spcPts val="3664"/>
              </a:lnSpc>
              <a:buFont typeface="Arial"/>
              <a:buChar char="•"/>
            </a:pP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</a:t>
            </a:r>
            <a:r>
              <a:rPr lang="en-US" b="true" sz="2818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ort from peers &amp; family</a:t>
            </a:r>
          </a:p>
          <a:p>
            <a:pPr algn="l">
              <a:lnSpc>
                <a:spcPts val="366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9110" y="4116632"/>
            <a:ext cx="1057422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 spc="58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Q&amp;A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688" y="5373932"/>
            <a:ext cx="8611739" cy="90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818" b="true">
                <a:solidFill>
                  <a:srgbClr val="4527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“I welcome your questions.”</a:t>
            </a:r>
          </a:p>
          <a:p>
            <a:pPr algn="l">
              <a:lnSpc>
                <a:spcPts val="366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194612" y="1483466"/>
            <a:ext cx="6501975" cy="7701067"/>
          </a:xfrm>
          <a:custGeom>
            <a:avLst/>
            <a:gdLst/>
            <a:ahLst/>
            <a:cxnLst/>
            <a:rect r="r" b="b" t="t" l="l"/>
            <a:pathLst>
              <a:path h="7701067" w="6501975">
                <a:moveTo>
                  <a:pt x="0" y="0"/>
                </a:moveTo>
                <a:lnTo>
                  <a:pt x="6501975" y="0"/>
                </a:lnTo>
                <a:lnTo>
                  <a:pt x="6501975" y="7701068"/>
                </a:lnTo>
                <a:lnTo>
                  <a:pt x="0" y="7701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325531" y="7863129"/>
            <a:ext cx="8081965" cy="6583128"/>
          </a:xfrm>
          <a:custGeom>
            <a:avLst/>
            <a:gdLst/>
            <a:ahLst/>
            <a:cxnLst/>
            <a:rect r="r" b="b" t="t" l="l"/>
            <a:pathLst>
              <a:path h="6583128" w="8081965">
                <a:moveTo>
                  <a:pt x="8081966" y="0"/>
                </a:moveTo>
                <a:lnTo>
                  <a:pt x="0" y="0"/>
                </a:lnTo>
                <a:lnTo>
                  <a:pt x="0" y="6583128"/>
                </a:lnTo>
                <a:lnTo>
                  <a:pt x="8081966" y="6583128"/>
                </a:lnTo>
                <a:lnTo>
                  <a:pt x="8081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3159849" y="-3808372"/>
            <a:ext cx="8198902" cy="6678378"/>
          </a:xfrm>
          <a:custGeom>
            <a:avLst/>
            <a:gdLst/>
            <a:ahLst/>
            <a:cxnLst/>
            <a:rect r="r" b="b" t="t" l="l"/>
            <a:pathLst>
              <a:path h="6678378" w="8198902">
                <a:moveTo>
                  <a:pt x="0" y="6678379"/>
                </a:moveTo>
                <a:lnTo>
                  <a:pt x="8198902" y="6678379"/>
                </a:lnTo>
                <a:lnTo>
                  <a:pt x="8198902" y="0"/>
                </a:lnTo>
                <a:lnTo>
                  <a:pt x="0" y="0"/>
                </a:lnTo>
                <a:lnTo>
                  <a:pt x="0" y="66783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62341">
            <a:off x="16708894" y="846920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0" y="0"/>
                </a:moveTo>
                <a:lnTo>
                  <a:pt x="3158212" y="0"/>
                </a:lnTo>
                <a:lnTo>
                  <a:pt x="3158212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3143" y="1643806"/>
            <a:ext cx="841751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b="true" sz="6100" spc="61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LISTENING!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3430" y="4445558"/>
            <a:ext cx="5147721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WEBSITE IS LIVE 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2480" y="4900295"/>
            <a:ext cx="680333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https://bookvault-deployed.netlify.app/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2480" y="5604789"/>
            <a:ext cx="5147721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2480" y="6152794"/>
            <a:ext cx="6803333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https://github.com/Parkhi-byte/BookVault-Deployment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2480" y="7315480"/>
            <a:ext cx="5147721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27">
                <a:solidFill>
                  <a:srgbClr val="6399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LINKED 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2480" y="7734580"/>
            <a:ext cx="6742670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5">
                <a:solidFill>
                  <a:srgbClr val="452721"/>
                </a:solidFill>
                <a:latin typeface="Montserrat"/>
                <a:ea typeface="Montserrat"/>
                <a:cs typeface="Montserrat"/>
                <a:sym typeface="Montserrat"/>
              </a:rPr>
              <a:t>www.linkedin.com/in/parkhi-3a62a1315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true" flipV="false" rot="2872934">
            <a:off x="2377235" y="8513629"/>
            <a:ext cx="3158213" cy="3181350"/>
          </a:xfrm>
          <a:custGeom>
            <a:avLst/>
            <a:gdLst/>
            <a:ahLst/>
            <a:cxnLst/>
            <a:rect r="r" b="b" t="t" l="l"/>
            <a:pathLst>
              <a:path h="3181350" w="3158213">
                <a:moveTo>
                  <a:pt x="3158213" y="0"/>
                </a:moveTo>
                <a:lnTo>
                  <a:pt x="0" y="0"/>
                </a:lnTo>
                <a:lnTo>
                  <a:pt x="0" y="3181350"/>
                </a:lnTo>
                <a:lnTo>
                  <a:pt x="3158213" y="3181350"/>
                </a:lnTo>
                <a:lnTo>
                  <a:pt x="3158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32044" y="2630306"/>
            <a:ext cx="8927256" cy="5417549"/>
          </a:xfrm>
          <a:custGeom>
            <a:avLst/>
            <a:gdLst/>
            <a:ahLst/>
            <a:cxnLst/>
            <a:rect r="r" b="b" t="t" l="l"/>
            <a:pathLst>
              <a:path h="5417549" w="8927256">
                <a:moveTo>
                  <a:pt x="0" y="0"/>
                </a:moveTo>
                <a:lnTo>
                  <a:pt x="8927256" y="0"/>
                </a:lnTo>
                <a:lnTo>
                  <a:pt x="8927256" y="5417548"/>
                </a:lnTo>
                <a:lnTo>
                  <a:pt x="0" y="54175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DAGyF_GNJAI</dc:identifier>
  <dcterms:modified xsi:type="dcterms:W3CDTF">2011-08-01T06:04:30Z</dcterms:modified>
  <cp:revision>1</cp:revision>
  <dc:title>Green Yellow Pink Creative Employee Training Presentation</dc:title>
</cp:coreProperties>
</file>